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Good morning. I am Jennis Jerom A, and this presentation summarizes my one-month summer internship at Fantasy Solution, where I worked on the E-Commerce Shopping System. I will cover the training, system design, implementation, testing, outcomes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internship combined structured technical training with a practical project. Mention the dates and organisation, then name the main technologies that were studied and applied.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internship had five broad objectives: understanding professional software development, improving Java skills, learning enterprise technologies, applying them in a complete project and building professional habits.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Fantasy Solution as an IT services and solution provider. Briefly describe its service areas, mission and vision. The internship report lists Mr. Bragatheesh as the industrial expert and joint supervisor.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thirty-day training programme moved from Java foundations to database and web technologies, then to the e-commerce project, security, testing and deployment. Each topic was reinforced with 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core problem: sellers relying on calls, messages and paper records face order duplication, inaccurate stock, billing mistakes, poor tracking and slow reporting. The project aims to bring these activities into one integrated web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how the proposed system replaces manual processes with a central web application. Make clear that payment methods are recorded and that live payment-gateway integration is listed as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two primary roles. Customers use the storefront and order-tracking features, while administrators maintain the catalogue and stock, process orders, manage customers and generate reports.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layers from the presentation layer to MySQL. Spring MVC controllers handle requests, the service layer enforces business rules, and Hibernate/JPA manages database access. Spring Security checks identity and role before protected functions are reached.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describes eight core entities: users, categories, products, addresses, orders, order items, payments and cart items. Products belong to categories; customers own addresses, carts and orders; orders contain order items and have a payment record. Primary and foreign keys support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main order workflow. The system validates stock, applies the coupon and calculates GST and delivery, then confirms the order after the payment step succeeds. If stock is insufficient or payment fails, checkout is rejected. The report describes order processing and stock changes as transactional.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main tools and why they were used: Java for application logic, Spring Boot and MVC for the web application, Hibernate/JPA and MySQL for persistence, Spring Security for access control, JUnit for testing, Git for source management and Tomcat for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reliability are key non-functional requirements. Describe authentication, role-based authorisation, server-side validation, parameterized database access and session handling. Emphasize transactional order processing to avoid inconsistent stock and order records.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covered unit, integration, system, security and user-acceptance levels. Representative cases included valid and invalid login, product creation, product search, cart updates, stock-limit validation, order placement, empty-cart checkout, total calculation and role restrictions.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report's walkthrough covers the main customer and administrator screens. Summarize the functional outcomes rather than claiming external production deployment: the system supports catalogue search, cart and checkout, price calculation, stock validation, order tracking, role-based access and reporting.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 on both technical and professional learning. The report highlights Java, databases, web frameworks, security, testing and deployment. Key challenges included learning many technologies quickly, mapping objects to tables, preserving stock consistency, calculating totals accurately and integrating front-end and back-end modules.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identifies eight possible future enhancements: live payment-gateway integration, notifications, wishlist and reviews, recommendations, offers management, multi-vendor support, courier tracking and a companion Android app.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connecting the training with the project. The internship helped apply Java, web and database knowledge to a layered e-commerce application, while developing habits around testing, documentation, teamwork and communication.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as practice questions. Answer in your own words and keep responses concise. Be accurate about the system's scope: the report describes payment-method recording and identifies live payment-gateway integration as future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B38"/>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32520" y="-502920"/>
            <a:ext cx="3840480" cy="3840480"/>
          </a:xfrm>
          <a:prstGeom prst="ellipse">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55480" y="502920"/>
            <a:ext cx="2377440" cy="237744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1188720"/>
            <a:ext cx="1005840" cy="1005840"/>
          </a:xfrm>
          <a:prstGeom prst="ellipse">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914400"/>
            <a:ext cx="82296" cy="4480560"/>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960120"/>
            <a:ext cx="7223760" cy="320040"/>
          </a:xfrm>
          <a:prstGeom prst="rect">
            <a:avLst/>
          </a:prstGeom>
          <a:noFill/>
        </p:spPr>
        <p:txBody>
          <a:bodyPr wrap="square" lIns="18288" rIns="18288" tIns="18288" bIns="18288">
            <a:spAutoFit/>
          </a:bodyPr>
          <a:lstStyle/>
          <a:p>
            <a:pPr>
              <a:defRPr sz="1300" b="1">
                <a:solidFill>
                  <a:srgbClr val="75B8F5"/>
                </a:solidFill>
                <a:latin typeface="Aptos"/>
              </a:defRPr>
            </a:pPr>
            <a:r>
              <a:t>SUMMER INTERNSHIP REPORT</a:t>
            </a:r>
          </a:p>
        </p:txBody>
      </p:sp>
      <p:sp>
        <p:nvSpPr>
          <p:cNvPr id="8" name="TextBox 7"/>
          <p:cNvSpPr txBox="1"/>
          <p:nvPr/>
        </p:nvSpPr>
        <p:spPr>
          <a:xfrm>
            <a:off x="1024128" y="1508760"/>
            <a:ext cx="7955279" cy="1371600"/>
          </a:xfrm>
          <a:prstGeom prst="rect">
            <a:avLst/>
          </a:prstGeom>
          <a:noFill/>
        </p:spPr>
        <p:txBody>
          <a:bodyPr wrap="square" lIns="18288" rIns="18288" tIns="18288" bIns="18288">
            <a:spAutoFit/>
          </a:bodyPr>
          <a:lstStyle/>
          <a:p>
            <a:pPr>
              <a:defRPr sz="3400" b="1">
                <a:solidFill>
                  <a:srgbClr val="FFFFFF"/>
                </a:solidFill>
                <a:latin typeface="Aptos Display"/>
              </a:defRPr>
            </a:pPr>
            <a:r>
              <a:t>E-Commerce</a:t>
            </a:r>
            <a:br/>
            <a:r>
              <a:t>Shopping System</a:t>
            </a:r>
          </a:p>
        </p:txBody>
      </p:sp>
      <p:sp>
        <p:nvSpPr>
          <p:cNvPr id="9" name="Rectangle 8"/>
          <p:cNvSpPr/>
          <p:nvPr/>
        </p:nvSpPr>
        <p:spPr>
          <a:xfrm>
            <a:off x="1051560" y="3154680"/>
            <a:ext cx="1097280" cy="54864"/>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56432"/>
            <a:ext cx="6949440" cy="365760"/>
          </a:xfrm>
          <a:prstGeom prst="rect">
            <a:avLst/>
          </a:prstGeom>
          <a:noFill/>
        </p:spPr>
        <p:txBody>
          <a:bodyPr wrap="square" lIns="18288" rIns="18288" tIns="18288" bIns="18288">
            <a:spAutoFit/>
          </a:bodyPr>
          <a:lstStyle/>
          <a:p>
            <a:pPr>
              <a:defRPr sz="1700" b="1">
                <a:solidFill>
                  <a:srgbClr val="FFFFFF"/>
                </a:solidFill>
                <a:latin typeface="Aptos"/>
              </a:defRPr>
            </a:pPr>
            <a:r>
              <a:t>JENNIS JEROM A  |  810023205303</a:t>
            </a:r>
          </a:p>
        </p:txBody>
      </p:sp>
      <p:sp>
        <p:nvSpPr>
          <p:cNvPr id="11" name="TextBox 10"/>
          <p:cNvSpPr txBox="1"/>
          <p:nvPr/>
        </p:nvSpPr>
        <p:spPr>
          <a:xfrm>
            <a:off x="1051560" y="3977639"/>
            <a:ext cx="6858000" cy="658368"/>
          </a:xfrm>
          <a:prstGeom prst="rect">
            <a:avLst/>
          </a:prstGeom>
          <a:noFill/>
        </p:spPr>
        <p:txBody>
          <a:bodyPr wrap="square" lIns="18288" rIns="18288" tIns="18288" bIns="18288">
            <a:spAutoFit/>
          </a:bodyPr>
          <a:lstStyle/>
          <a:p>
            <a:pPr>
              <a:defRPr sz="1800" b="0">
                <a:solidFill>
                  <a:srgbClr val="37465A"/>
                </a:solidFill>
                <a:latin typeface="Aptos"/>
              </a:defRPr>
            </a:pPr>
            <a:r>
              <a:t>B.Tech Information Technology</a:t>
            </a:r>
          </a:p>
          <a:p>
            <a:pPr>
              <a:defRPr sz="1600" b="1">
                <a:solidFill>
                  <a:srgbClr val="1969AA"/>
                </a:solidFill>
                <a:latin typeface="Aptos"/>
              </a:defRPr>
            </a:pPr>
            <a:r>
              <a:t>INFORMATION TECHNOLOGY DEPARTMENT</a:t>
            </a:r>
          </a:p>
        </p:txBody>
      </p:sp>
      <p:sp>
        <p:nvSpPr>
          <p:cNvPr id="12" name="TextBox 11"/>
          <p:cNvSpPr txBox="1"/>
          <p:nvPr/>
        </p:nvSpPr>
        <p:spPr>
          <a:xfrm>
            <a:off x="1051560" y="4983480"/>
            <a:ext cx="6949440" cy="594360"/>
          </a:xfrm>
          <a:prstGeom prst="rect">
            <a:avLst/>
          </a:prstGeom>
          <a:noFill/>
        </p:spPr>
        <p:txBody>
          <a:bodyPr wrap="square" lIns="18288" rIns="18288" tIns="18288" bIns="18288">
            <a:spAutoFit/>
          </a:bodyPr>
          <a:lstStyle/>
          <a:p>
            <a:pPr>
              <a:defRPr sz="1400" b="0">
                <a:solidFill>
                  <a:srgbClr val="75B8F5"/>
                </a:solidFill>
                <a:latin typeface="Aptos"/>
              </a:defRPr>
            </a:pPr>
            <a:r>
              <a:t>Fantasy Solution, Tiruchirappalli</a:t>
            </a:r>
            <a:br/>
            <a:r>
              <a:t>01 June 2026 – 30 June 2026</a:t>
            </a:r>
          </a:p>
        </p:txBody>
      </p:sp>
      <p:sp>
        <p:nvSpPr>
          <p:cNvPr id="13" name="TextBox 12"/>
          <p:cNvSpPr txBox="1"/>
          <p:nvPr/>
        </p:nvSpPr>
        <p:spPr>
          <a:xfrm>
            <a:off x="1051560" y="6172200"/>
            <a:ext cx="9875520" cy="228600"/>
          </a:xfrm>
          <a:prstGeom prst="rect">
            <a:avLst/>
          </a:prstGeom>
          <a:noFill/>
        </p:spPr>
        <p:txBody>
          <a:bodyPr wrap="square" lIns="18288" rIns="18288" tIns="18288" bIns="18288">
            <a:spAutoFit/>
          </a:bodyPr>
          <a:lstStyle/>
          <a:p>
            <a:pPr>
              <a:defRPr sz="900" b="1">
                <a:solidFill>
                  <a:srgbClr val="E7F3FF"/>
                </a:solidFill>
                <a:latin typeface="Aptos"/>
              </a:defRPr>
            </a:pPr>
            <a:r>
              <a:t>UNIVERSITY COLLEGE OF ENGINEERING, BIT CAMPUS  •  ANNA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OVERVIEW</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Internship at a Glance</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02</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40080" y="1600200"/>
            <a:ext cx="3520440" cy="150876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00200"/>
            <a:ext cx="73152" cy="150876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746504"/>
            <a:ext cx="3136392" cy="329184"/>
          </a:xfrm>
          <a:prstGeom prst="rect">
            <a:avLst/>
          </a:prstGeom>
          <a:noFill/>
        </p:spPr>
        <p:txBody>
          <a:bodyPr wrap="square" lIns="18288" rIns="18288" tIns="18288" bIns="18288">
            <a:spAutoFit/>
          </a:bodyPr>
          <a:lstStyle/>
          <a:p>
            <a:pPr>
              <a:defRPr sz="1600" b="1">
                <a:solidFill>
                  <a:srgbClr val="081B38"/>
                </a:solidFill>
                <a:latin typeface="Aptos Display"/>
              </a:defRPr>
            </a:pPr>
            <a:r>
              <a:t>Organisation</a:t>
            </a:r>
          </a:p>
        </p:txBody>
      </p:sp>
      <p:sp>
        <p:nvSpPr>
          <p:cNvPr id="11" name="TextBox 10"/>
          <p:cNvSpPr txBox="1"/>
          <p:nvPr/>
        </p:nvSpPr>
        <p:spPr>
          <a:xfrm>
            <a:off x="841247" y="2167128"/>
            <a:ext cx="3136392" cy="822959"/>
          </a:xfrm>
          <a:prstGeom prst="rect">
            <a:avLst/>
          </a:prstGeom>
          <a:noFill/>
        </p:spPr>
        <p:txBody>
          <a:bodyPr wrap="square" lIns="18288" rIns="18288" tIns="18288" bIns="18288">
            <a:spAutoFit/>
          </a:bodyPr>
          <a:lstStyle/>
          <a:p>
            <a:pPr>
              <a:defRPr sz="1600" b="0">
                <a:solidFill>
                  <a:srgbClr val="162D4C"/>
                </a:solidFill>
                <a:latin typeface="Aptos"/>
              </a:defRPr>
            </a:pPr>
            <a:r>
              <a:t>Fantasy Solution</a:t>
            </a:r>
            <a:br/>
            <a:r>
              <a:t>Tiruchirappalli</a:t>
            </a:r>
          </a:p>
        </p:txBody>
      </p:sp>
      <p:sp>
        <p:nvSpPr>
          <p:cNvPr id="12" name="Rounded Rectangle 11"/>
          <p:cNvSpPr/>
          <p:nvPr/>
        </p:nvSpPr>
        <p:spPr>
          <a:xfrm>
            <a:off x="4343400" y="1600200"/>
            <a:ext cx="3520440" cy="150876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600200"/>
            <a:ext cx="73152" cy="150876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746504"/>
            <a:ext cx="3136392" cy="329184"/>
          </a:xfrm>
          <a:prstGeom prst="rect">
            <a:avLst/>
          </a:prstGeom>
          <a:noFill/>
        </p:spPr>
        <p:txBody>
          <a:bodyPr wrap="square" lIns="18288" rIns="18288" tIns="18288" bIns="18288">
            <a:spAutoFit/>
          </a:bodyPr>
          <a:lstStyle/>
          <a:p>
            <a:pPr>
              <a:defRPr sz="1600" b="1">
                <a:solidFill>
                  <a:srgbClr val="081B38"/>
                </a:solidFill>
                <a:latin typeface="Aptos Display"/>
              </a:defRPr>
            </a:pPr>
            <a:r>
              <a:t>Duration</a:t>
            </a:r>
          </a:p>
        </p:txBody>
      </p:sp>
      <p:sp>
        <p:nvSpPr>
          <p:cNvPr id="15" name="TextBox 14"/>
          <p:cNvSpPr txBox="1"/>
          <p:nvPr/>
        </p:nvSpPr>
        <p:spPr>
          <a:xfrm>
            <a:off x="4544568" y="2167128"/>
            <a:ext cx="3136392" cy="822959"/>
          </a:xfrm>
          <a:prstGeom prst="rect">
            <a:avLst/>
          </a:prstGeom>
          <a:noFill/>
        </p:spPr>
        <p:txBody>
          <a:bodyPr wrap="square" lIns="18288" rIns="18288" tIns="18288" bIns="18288">
            <a:spAutoFit/>
          </a:bodyPr>
          <a:lstStyle/>
          <a:p>
            <a:pPr>
              <a:defRPr sz="1600" b="0">
                <a:solidFill>
                  <a:srgbClr val="162D4C"/>
                </a:solidFill>
                <a:latin typeface="Aptos"/>
              </a:defRPr>
            </a:pPr>
            <a:r>
              <a:t>01 June – 30 June 2026</a:t>
            </a:r>
            <a:br/>
            <a:r>
              <a:t>30 days</a:t>
            </a:r>
          </a:p>
        </p:txBody>
      </p:sp>
      <p:sp>
        <p:nvSpPr>
          <p:cNvPr id="16" name="Rounded Rectangle 15"/>
          <p:cNvSpPr/>
          <p:nvPr/>
        </p:nvSpPr>
        <p:spPr>
          <a:xfrm>
            <a:off x="8046720" y="1600200"/>
            <a:ext cx="3520440" cy="150876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600200"/>
            <a:ext cx="73152" cy="1508760"/>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746504"/>
            <a:ext cx="3136392" cy="329184"/>
          </a:xfrm>
          <a:prstGeom prst="rect">
            <a:avLst/>
          </a:prstGeom>
          <a:noFill/>
        </p:spPr>
        <p:txBody>
          <a:bodyPr wrap="square" lIns="18288" rIns="18288" tIns="18288" bIns="18288">
            <a:spAutoFit/>
          </a:bodyPr>
          <a:lstStyle/>
          <a:p>
            <a:pPr>
              <a:defRPr sz="1600" b="1">
                <a:solidFill>
                  <a:srgbClr val="081B38"/>
                </a:solidFill>
                <a:latin typeface="Aptos Display"/>
              </a:defRPr>
            </a:pPr>
            <a:r>
              <a:t>Project</a:t>
            </a:r>
          </a:p>
        </p:txBody>
      </p:sp>
      <p:sp>
        <p:nvSpPr>
          <p:cNvPr id="19" name="TextBox 18"/>
          <p:cNvSpPr txBox="1"/>
          <p:nvPr/>
        </p:nvSpPr>
        <p:spPr>
          <a:xfrm>
            <a:off x="8247888" y="2167128"/>
            <a:ext cx="3136392" cy="822959"/>
          </a:xfrm>
          <a:prstGeom prst="rect">
            <a:avLst/>
          </a:prstGeom>
          <a:noFill/>
        </p:spPr>
        <p:txBody>
          <a:bodyPr wrap="square" lIns="18288" rIns="18288" tIns="18288" bIns="18288">
            <a:spAutoFit/>
          </a:bodyPr>
          <a:lstStyle/>
          <a:p>
            <a:pPr>
              <a:defRPr sz="1600" b="0">
                <a:solidFill>
                  <a:srgbClr val="162D4C"/>
                </a:solidFill>
                <a:latin typeface="Aptos"/>
              </a:defRPr>
            </a:pPr>
            <a:r>
              <a:t>E-Commerce Shopping System</a:t>
            </a:r>
          </a:p>
        </p:txBody>
      </p:sp>
      <p:sp>
        <p:nvSpPr>
          <p:cNvPr id="20" name="Rounded Rectangle 19"/>
          <p:cNvSpPr/>
          <p:nvPr/>
        </p:nvSpPr>
        <p:spPr>
          <a:xfrm>
            <a:off x="640080" y="3383280"/>
            <a:ext cx="5349240" cy="20574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383280"/>
            <a:ext cx="73152" cy="205740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7" y="3529584"/>
            <a:ext cx="4965192" cy="329184"/>
          </a:xfrm>
          <a:prstGeom prst="rect">
            <a:avLst/>
          </a:prstGeom>
          <a:noFill/>
        </p:spPr>
        <p:txBody>
          <a:bodyPr wrap="square" lIns="18288" rIns="18288" tIns="18288" bIns="18288">
            <a:spAutoFit/>
          </a:bodyPr>
          <a:lstStyle/>
          <a:p>
            <a:pPr>
              <a:defRPr sz="1600" b="1">
                <a:solidFill>
                  <a:srgbClr val="081B38"/>
                </a:solidFill>
                <a:latin typeface="Aptos Display"/>
              </a:defRPr>
            </a:pPr>
            <a:r>
              <a:t>Two connected workstreams</a:t>
            </a:r>
          </a:p>
        </p:txBody>
      </p:sp>
      <p:sp>
        <p:nvSpPr>
          <p:cNvPr id="23" name="TextBox 22"/>
          <p:cNvSpPr txBox="1"/>
          <p:nvPr/>
        </p:nvSpPr>
        <p:spPr>
          <a:xfrm>
            <a:off x="841247" y="3950208"/>
            <a:ext cx="4965192" cy="1371600"/>
          </a:xfrm>
          <a:prstGeom prst="rect">
            <a:avLst/>
          </a:prstGeom>
          <a:noFill/>
        </p:spPr>
        <p:txBody>
          <a:bodyPr wrap="square" lIns="45720" rIns="45720" tIns="36576" bIns="18288">
            <a:spAutoFit/>
          </a:bodyPr>
          <a:lstStyle/>
          <a:p>
            <a:pPr>
              <a:spcAft>
                <a:spcPts val="500"/>
              </a:spcAft>
              <a:defRPr sz="1500">
                <a:solidFill>
                  <a:srgbClr val="162D4C"/>
                </a:solidFill>
                <a:latin typeface="Aptos"/>
              </a:defRPr>
            </a:pPr>
            <a:r>
              <a:t>•  Guided Java and enterprise-application training</a:t>
            </a:r>
          </a:p>
          <a:p>
            <a:pPr>
              <a:spcAft>
                <a:spcPts val="500"/>
              </a:spcAft>
              <a:defRPr sz="1500">
                <a:solidFill>
                  <a:srgbClr val="162D4C"/>
                </a:solidFill>
                <a:latin typeface="Aptos"/>
              </a:defRPr>
            </a:pPr>
            <a:r>
              <a:t>•  Design and development of a web-based shopping system</a:t>
            </a:r>
          </a:p>
        </p:txBody>
      </p:sp>
      <p:sp>
        <p:nvSpPr>
          <p:cNvPr id="24" name="Rounded Rectangle 23"/>
          <p:cNvSpPr/>
          <p:nvPr/>
        </p:nvSpPr>
        <p:spPr>
          <a:xfrm>
            <a:off x="6217920" y="3383280"/>
            <a:ext cx="5349240" cy="20574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3383280"/>
            <a:ext cx="73152" cy="205740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3529584"/>
            <a:ext cx="4965192" cy="329184"/>
          </a:xfrm>
          <a:prstGeom prst="rect">
            <a:avLst/>
          </a:prstGeom>
          <a:noFill/>
        </p:spPr>
        <p:txBody>
          <a:bodyPr wrap="square" lIns="18288" rIns="18288" tIns="18288" bIns="18288">
            <a:spAutoFit/>
          </a:bodyPr>
          <a:lstStyle/>
          <a:p>
            <a:pPr>
              <a:defRPr sz="1600" b="1">
                <a:solidFill>
                  <a:srgbClr val="081B38"/>
                </a:solidFill>
                <a:latin typeface="Aptos Display"/>
              </a:defRPr>
            </a:pPr>
            <a:r>
              <a:t>Main technology areas</a:t>
            </a:r>
          </a:p>
        </p:txBody>
      </p:sp>
      <p:sp>
        <p:nvSpPr>
          <p:cNvPr id="27" name="TextBox 26"/>
          <p:cNvSpPr txBox="1"/>
          <p:nvPr/>
        </p:nvSpPr>
        <p:spPr>
          <a:xfrm>
            <a:off x="6419088" y="3950208"/>
            <a:ext cx="4965192" cy="1371600"/>
          </a:xfrm>
          <a:prstGeom prst="rect">
            <a:avLst/>
          </a:prstGeom>
          <a:noFill/>
        </p:spPr>
        <p:txBody>
          <a:bodyPr wrap="square" lIns="45720" rIns="45720" tIns="36576" bIns="18288">
            <a:spAutoFit/>
          </a:bodyPr>
          <a:lstStyle/>
          <a:p>
            <a:pPr>
              <a:spcAft>
                <a:spcPts val="500"/>
              </a:spcAft>
              <a:defRPr sz="1500">
                <a:solidFill>
                  <a:srgbClr val="162D4C"/>
                </a:solidFill>
                <a:latin typeface="Aptos"/>
              </a:defRPr>
            </a:pPr>
            <a:r>
              <a:t>•  Java, Spring Boot, Hibernate and MySQL</a:t>
            </a:r>
          </a:p>
          <a:p>
            <a:pPr>
              <a:spcAft>
                <a:spcPts val="500"/>
              </a:spcAft>
              <a:defRPr sz="1500">
                <a:solidFill>
                  <a:srgbClr val="162D4C"/>
                </a:solidFill>
                <a:latin typeface="Aptos"/>
              </a:defRPr>
            </a:pPr>
            <a:r>
              <a:t>•  Spring Security, JUnit, Git and Apache Tomcat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OVERVIEW</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Internship Objectives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03</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Oval 7"/>
          <p:cNvSpPr/>
          <p:nvPr/>
        </p:nvSpPr>
        <p:spPr>
          <a:xfrm>
            <a:off x="731520" y="1554480"/>
            <a:ext cx="502920" cy="50292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7"/>
            <a:ext cx="502920" cy="201168"/>
          </a:xfrm>
          <a:prstGeom prst="rect">
            <a:avLst/>
          </a:prstGeom>
          <a:noFill/>
        </p:spPr>
        <p:txBody>
          <a:bodyPr wrap="square" lIns="18288" rIns="18288" tIns="18288" bIns="18288">
            <a:spAutoFit/>
          </a:bodyPr>
          <a:lstStyle/>
          <a:p>
            <a:pPr algn="ctr">
              <a:defRPr sz="1100" b="1">
                <a:solidFill>
                  <a:srgbClr val="FFFFFF"/>
                </a:solidFill>
                <a:latin typeface="Aptos"/>
              </a:defRPr>
            </a:pPr>
            <a:r>
              <a:t>01</a:t>
            </a:r>
          </a:p>
        </p:txBody>
      </p:sp>
      <p:sp>
        <p:nvSpPr>
          <p:cNvPr id="10" name="TextBox 9"/>
          <p:cNvSpPr txBox="1"/>
          <p:nvPr/>
        </p:nvSpPr>
        <p:spPr>
          <a:xfrm>
            <a:off x="1463040" y="1536192"/>
            <a:ext cx="2377440" cy="292608"/>
          </a:xfrm>
          <a:prstGeom prst="rect">
            <a:avLst/>
          </a:prstGeom>
          <a:noFill/>
        </p:spPr>
        <p:txBody>
          <a:bodyPr wrap="square" lIns="18288" rIns="18288" tIns="18288" bIns="18288">
            <a:spAutoFit/>
          </a:bodyPr>
          <a:lstStyle/>
          <a:p>
            <a:pPr>
              <a:defRPr sz="1600" b="1">
                <a:solidFill>
                  <a:srgbClr val="081B38"/>
                </a:solidFill>
                <a:latin typeface="Aptos Display"/>
              </a:defRPr>
            </a:pPr>
            <a:r>
              <a:t>Understand the SDLC</a:t>
            </a:r>
          </a:p>
        </p:txBody>
      </p:sp>
      <p:sp>
        <p:nvSpPr>
          <p:cNvPr id="11" name="TextBox 10"/>
          <p:cNvSpPr txBox="1"/>
          <p:nvPr/>
        </p:nvSpPr>
        <p:spPr>
          <a:xfrm>
            <a:off x="3657600" y="1536192"/>
            <a:ext cx="7589520" cy="502920"/>
          </a:xfrm>
          <a:prstGeom prst="rect">
            <a:avLst/>
          </a:prstGeom>
          <a:noFill/>
        </p:spPr>
        <p:txBody>
          <a:bodyPr wrap="square" lIns="18288" rIns="18288" tIns="18288" bIns="18288">
            <a:spAutoFit/>
          </a:bodyPr>
          <a:lstStyle/>
          <a:p>
            <a:pPr>
              <a:defRPr sz="1400" b="0">
                <a:solidFill>
                  <a:srgbClr val="162D4C"/>
                </a:solidFill>
                <a:latin typeface="Aptos"/>
              </a:defRPr>
            </a:pPr>
            <a:r>
              <a:t>Learn how a software organisation plans, builds, tests and delivers applications.</a:t>
            </a:r>
          </a:p>
        </p:txBody>
      </p:sp>
      <p:sp>
        <p:nvSpPr>
          <p:cNvPr id="12" name="Oval 11"/>
          <p:cNvSpPr/>
          <p:nvPr/>
        </p:nvSpPr>
        <p:spPr>
          <a:xfrm>
            <a:off x="731520" y="2450591"/>
            <a:ext cx="502920" cy="502920"/>
          </a:xfrm>
          <a:prstGeom prst="ellipse">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60320"/>
            <a:ext cx="502920" cy="201168"/>
          </a:xfrm>
          <a:prstGeom prst="rect">
            <a:avLst/>
          </a:prstGeom>
          <a:noFill/>
        </p:spPr>
        <p:txBody>
          <a:bodyPr wrap="square" lIns="18288" rIns="18288" tIns="18288" bIns="18288">
            <a:spAutoFit/>
          </a:bodyPr>
          <a:lstStyle/>
          <a:p>
            <a:pPr algn="ctr">
              <a:defRPr sz="1100" b="1">
                <a:solidFill>
                  <a:srgbClr val="FFFFFF"/>
                </a:solidFill>
                <a:latin typeface="Aptos"/>
              </a:defRPr>
            </a:pPr>
            <a:r>
              <a:t>02</a:t>
            </a:r>
          </a:p>
        </p:txBody>
      </p:sp>
      <p:sp>
        <p:nvSpPr>
          <p:cNvPr id="14" name="TextBox 13"/>
          <p:cNvSpPr txBox="1"/>
          <p:nvPr/>
        </p:nvSpPr>
        <p:spPr>
          <a:xfrm>
            <a:off x="1463040" y="2432303"/>
            <a:ext cx="2377440" cy="292608"/>
          </a:xfrm>
          <a:prstGeom prst="rect">
            <a:avLst/>
          </a:prstGeom>
          <a:noFill/>
        </p:spPr>
        <p:txBody>
          <a:bodyPr wrap="square" lIns="18288" rIns="18288" tIns="18288" bIns="18288">
            <a:spAutoFit/>
          </a:bodyPr>
          <a:lstStyle/>
          <a:p>
            <a:pPr>
              <a:defRPr sz="1600" b="1">
                <a:solidFill>
                  <a:srgbClr val="081B38"/>
                </a:solidFill>
                <a:latin typeface="Aptos Display"/>
              </a:defRPr>
            </a:pPr>
            <a:r>
              <a:t>Strengthen Java skills</a:t>
            </a:r>
          </a:p>
        </p:txBody>
      </p:sp>
      <p:sp>
        <p:nvSpPr>
          <p:cNvPr id="15" name="TextBox 14"/>
          <p:cNvSpPr txBox="1"/>
          <p:nvPr/>
        </p:nvSpPr>
        <p:spPr>
          <a:xfrm>
            <a:off x="3657600" y="2432303"/>
            <a:ext cx="7589520" cy="502920"/>
          </a:xfrm>
          <a:prstGeom prst="rect">
            <a:avLst/>
          </a:prstGeom>
          <a:noFill/>
        </p:spPr>
        <p:txBody>
          <a:bodyPr wrap="square" lIns="18288" rIns="18288" tIns="18288" bIns="18288">
            <a:spAutoFit/>
          </a:bodyPr>
          <a:lstStyle/>
          <a:p>
            <a:pPr>
              <a:defRPr sz="1400" b="0">
                <a:solidFill>
                  <a:srgbClr val="162D4C"/>
                </a:solidFill>
                <a:latin typeface="Aptos"/>
              </a:defRPr>
            </a:pPr>
            <a:r>
              <a:t>Practise OOP, collections, multithreading and database connectivity.</a:t>
            </a:r>
          </a:p>
        </p:txBody>
      </p:sp>
      <p:sp>
        <p:nvSpPr>
          <p:cNvPr id="16" name="Oval 15"/>
          <p:cNvSpPr/>
          <p:nvPr/>
        </p:nvSpPr>
        <p:spPr>
          <a:xfrm>
            <a:off x="731520" y="3346704"/>
            <a:ext cx="502920" cy="50292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456432"/>
            <a:ext cx="502920" cy="201168"/>
          </a:xfrm>
          <a:prstGeom prst="rect">
            <a:avLst/>
          </a:prstGeom>
          <a:noFill/>
        </p:spPr>
        <p:txBody>
          <a:bodyPr wrap="square" lIns="18288" rIns="18288" tIns="18288" bIns="18288">
            <a:spAutoFit/>
          </a:bodyPr>
          <a:lstStyle/>
          <a:p>
            <a:pPr algn="ctr">
              <a:defRPr sz="1100" b="1">
                <a:solidFill>
                  <a:srgbClr val="FFFFFF"/>
                </a:solidFill>
                <a:latin typeface="Aptos"/>
              </a:defRPr>
            </a:pPr>
            <a:r>
              <a:t>03</a:t>
            </a:r>
          </a:p>
        </p:txBody>
      </p:sp>
      <p:sp>
        <p:nvSpPr>
          <p:cNvPr id="18" name="TextBox 17"/>
          <p:cNvSpPr txBox="1"/>
          <p:nvPr/>
        </p:nvSpPr>
        <p:spPr>
          <a:xfrm>
            <a:off x="1463040" y="3328416"/>
            <a:ext cx="2377440" cy="292608"/>
          </a:xfrm>
          <a:prstGeom prst="rect">
            <a:avLst/>
          </a:prstGeom>
          <a:noFill/>
        </p:spPr>
        <p:txBody>
          <a:bodyPr wrap="square" lIns="18288" rIns="18288" tIns="18288" bIns="18288">
            <a:spAutoFit/>
          </a:bodyPr>
          <a:lstStyle/>
          <a:p>
            <a:pPr>
              <a:defRPr sz="1600" b="1">
                <a:solidFill>
                  <a:srgbClr val="081B38"/>
                </a:solidFill>
                <a:latin typeface="Aptos Display"/>
              </a:defRPr>
            </a:pPr>
            <a:r>
              <a:t>Use enterprise tools</a:t>
            </a:r>
          </a:p>
        </p:txBody>
      </p:sp>
      <p:sp>
        <p:nvSpPr>
          <p:cNvPr id="19" name="TextBox 18"/>
          <p:cNvSpPr txBox="1"/>
          <p:nvPr/>
        </p:nvSpPr>
        <p:spPr>
          <a:xfrm>
            <a:off x="3657600" y="3328416"/>
            <a:ext cx="7589520" cy="502920"/>
          </a:xfrm>
          <a:prstGeom prst="rect">
            <a:avLst/>
          </a:prstGeom>
          <a:noFill/>
        </p:spPr>
        <p:txBody>
          <a:bodyPr wrap="square" lIns="18288" rIns="18288" tIns="18288" bIns="18288">
            <a:spAutoFit/>
          </a:bodyPr>
          <a:lstStyle/>
          <a:p>
            <a:pPr>
              <a:defRPr sz="1400" b="0">
                <a:solidFill>
                  <a:srgbClr val="162D4C"/>
                </a:solidFill>
                <a:latin typeface="Aptos"/>
              </a:defRPr>
            </a:pPr>
            <a:r>
              <a:t>Gain experience with Spring Boot, Hibernate, Servlets/JSP and Spring Security.</a:t>
            </a:r>
          </a:p>
        </p:txBody>
      </p:sp>
      <p:sp>
        <p:nvSpPr>
          <p:cNvPr id="20" name="Oval 19"/>
          <p:cNvSpPr/>
          <p:nvPr/>
        </p:nvSpPr>
        <p:spPr>
          <a:xfrm>
            <a:off x="731520" y="4242816"/>
            <a:ext cx="502920" cy="502920"/>
          </a:xfrm>
          <a:prstGeom prst="ellipse">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352544"/>
            <a:ext cx="502920" cy="201168"/>
          </a:xfrm>
          <a:prstGeom prst="rect">
            <a:avLst/>
          </a:prstGeom>
          <a:noFill/>
        </p:spPr>
        <p:txBody>
          <a:bodyPr wrap="square" lIns="18288" rIns="18288" tIns="18288" bIns="18288">
            <a:spAutoFit/>
          </a:bodyPr>
          <a:lstStyle/>
          <a:p>
            <a:pPr algn="ctr">
              <a:defRPr sz="1100" b="1">
                <a:solidFill>
                  <a:srgbClr val="FFFFFF"/>
                </a:solidFill>
                <a:latin typeface="Aptos"/>
              </a:defRPr>
            </a:pPr>
            <a:r>
              <a:t>04</a:t>
            </a:r>
          </a:p>
        </p:txBody>
      </p:sp>
      <p:sp>
        <p:nvSpPr>
          <p:cNvPr id="22" name="TextBox 21"/>
          <p:cNvSpPr txBox="1"/>
          <p:nvPr/>
        </p:nvSpPr>
        <p:spPr>
          <a:xfrm>
            <a:off x="1463040" y="4224528"/>
            <a:ext cx="2377440" cy="292608"/>
          </a:xfrm>
          <a:prstGeom prst="rect">
            <a:avLst/>
          </a:prstGeom>
          <a:noFill/>
        </p:spPr>
        <p:txBody>
          <a:bodyPr wrap="square" lIns="18288" rIns="18288" tIns="18288" bIns="18288">
            <a:spAutoFit/>
          </a:bodyPr>
          <a:lstStyle/>
          <a:p>
            <a:pPr>
              <a:defRPr sz="1600" b="1">
                <a:solidFill>
                  <a:srgbClr val="081B38"/>
                </a:solidFill>
                <a:latin typeface="Aptos Display"/>
              </a:defRPr>
            </a:pPr>
            <a:r>
              <a:t>Build a complete project</a:t>
            </a:r>
          </a:p>
        </p:txBody>
      </p:sp>
      <p:sp>
        <p:nvSpPr>
          <p:cNvPr id="23" name="TextBox 22"/>
          <p:cNvSpPr txBox="1"/>
          <p:nvPr/>
        </p:nvSpPr>
        <p:spPr>
          <a:xfrm>
            <a:off x="3657600" y="4224528"/>
            <a:ext cx="7589520" cy="502920"/>
          </a:xfrm>
          <a:prstGeom prst="rect">
            <a:avLst/>
          </a:prstGeom>
          <a:noFill/>
        </p:spPr>
        <p:txBody>
          <a:bodyPr wrap="square" lIns="18288" rIns="18288" tIns="18288" bIns="18288">
            <a:spAutoFit/>
          </a:bodyPr>
          <a:lstStyle/>
          <a:p>
            <a:pPr>
              <a:defRPr sz="1400" b="0">
                <a:solidFill>
                  <a:srgbClr val="162D4C"/>
                </a:solidFill>
                <a:latin typeface="Aptos"/>
              </a:defRPr>
            </a:pPr>
            <a:r>
              <a:t>Apply analysis, design, implementation, testing and deployment practices.</a:t>
            </a:r>
          </a:p>
        </p:txBody>
      </p:sp>
      <p:sp>
        <p:nvSpPr>
          <p:cNvPr id="24" name="Oval 23"/>
          <p:cNvSpPr/>
          <p:nvPr/>
        </p:nvSpPr>
        <p:spPr>
          <a:xfrm>
            <a:off x="731520" y="5138928"/>
            <a:ext cx="502920" cy="50292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248656"/>
            <a:ext cx="502920" cy="201168"/>
          </a:xfrm>
          <a:prstGeom prst="rect">
            <a:avLst/>
          </a:prstGeom>
          <a:noFill/>
        </p:spPr>
        <p:txBody>
          <a:bodyPr wrap="square" lIns="18288" rIns="18288" tIns="18288" bIns="18288">
            <a:spAutoFit/>
          </a:bodyPr>
          <a:lstStyle/>
          <a:p>
            <a:pPr algn="ctr">
              <a:defRPr sz="1100" b="1">
                <a:solidFill>
                  <a:srgbClr val="FFFFFF"/>
                </a:solidFill>
                <a:latin typeface="Aptos"/>
              </a:defRPr>
            </a:pPr>
            <a:r>
              <a:t>05</a:t>
            </a:r>
          </a:p>
        </p:txBody>
      </p:sp>
      <p:sp>
        <p:nvSpPr>
          <p:cNvPr id="26" name="TextBox 25"/>
          <p:cNvSpPr txBox="1"/>
          <p:nvPr/>
        </p:nvSpPr>
        <p:spPr>
          <a:xfrm>
            <a:off x="1463040" y="5120640"/>
            <a:ext cx="2377440" cy="292608"/>
          </a:xfrm>
          <a:prstGeom prst="rect">
            <a:avLst/>
          </a:prstGeom>
          <a:noFill/>
        </p:spPr>
        <p:txBody>
          <a:bodyPr wrap="square" lIns="18288" rIns="18288" tIns="18288" bIns="18288">
            <a:spAutoFit/>
          </a:bodyPr>
          <a:lstStyle/>
          <a:p>
            <a:pPr>
              <a:defRPr sz="1600" b="1">
                <a:solidFill>
                  <a:srgbClr val="081B38"/>
                </a:solidFill>
                <a:latin typeface="Aptos Display"/>
              </a:defRPr>
            </a:pPr>
            <a:r>
              <a:t>Develop workplace habits</a:t>
            </a:r>
          </a:p>
        </p:txBody>
      </p:sp>
      <p:sp>
        <p:nvSpPr>
          <p:cNvPr id="27" name="TextBox 26"/>
          <p:cNvSpPr txBox="1"/>
          <p:nvPr/>
        </p:nvSpPr>
        <p:spPr>
          <a:xfrm>
            <a:off x="3657600" y="5120640"/>
            <a:ext cx="7589520" cy="502920"/>
          </a:xfrm>
          <a:prstGeom prst="rect">
            <a:avLst/>
          </a:prstGeom>
          <a:noFill/>
        </p:spPr>
        <p:txBody>
          <a:bodyPr wrap="square" lIns="18288" rIns="18288" tIns="18288" bIns="18288">
            <a:spAutoFit/>
          </a:bodyPr>
          <a:lstStyle/>
          <a:p>
            <a:pPr>
              <a:defRPr sz="1400" b="0">
                <a:solidFill>
                  <a:srgbClr val="162D4C"/>
                </a:solidFill>
                <a:latin typeface="Aptos"/>
              </a:defRPr>
            </a:pPr>
            <a:r>
              <a:t>Improve communication, documentation, version control and teamwork.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ORGANISATION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Organisation Profile: Fantasy Solution</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04</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85800" y="1600200"/>
            <a:ext cx="5212080" cy="19202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73152" cy="192024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746504"/>
            <a:ext cx="4828032" cy="329184"/>
          </a:xfrm>
          <a:prstGeom prst="rect">
            <a:avLst/>
          </a:prstGeom>
          <a:noFill/>
        </p:spPr>
        <p:txBody>
          <a:bodyPr wrap="square" lIns="18288" rIns="18288" tIns="18288" bIns="18288">
            <a:spAutoFit/>
          </a:bodyPr>
          <a:lstStyle/>
          <a:p>
            <a:pPr>
              <a:defRPr sz="1600" b="1">
                <a:solidFill>
                  <a:srgbClr val="081B38"/>
                </a:solidFill>
                <a:latin typeface="Aptos Display"/>
              </a:defRPr>
            </a:pPr>
            <a:r>
              <a:t>About the organisation</a:t>
            </a:r>
          </a:p>
        </p:txBody>
      </p:sp>
      <p:sp>
        <p:nvSpPr>
          <p:cNvPr id="11" name="TextBox 10"/>
          <p:cNvSpPr txBox="1"/>
          <p:nvPr/>
        </p:nvSpPr>
        <p:spPr>
          <a:xfrm>
            <a:off x="886968" y="2167128"/>
            <a:ext cx="4828032" cy="1234440"/>
          </a:xfrm>
          <a:prstGeom prst="rect">
            <a:avLst/>
          </a:prstGeom>
          <a:noFill/>
        </p:spPr>
        <p:txBody>
          <a:bodyPr wrap="square" lIns="45720" rIns="45720" tIns="36576" bIns="18288">
            <a:spAutoFit/>
          </a:bodyPr>
          <a:lstStyle/>
          <a:p>
            <a:pPr>
              <a:spcAft>
                <a:spcPts val="500"/>
              </a:spcAft>
              <a:defRPr sz="1400">
                <a:solidFill>
                  <a:srgbClr val="162D4C"/>
                </a:solidFill>
                <a:latin typeface="Aptos"/>
              </a:defRPr>
            </a:pPr>
            <a:r>
              <a:t>•  IT solution and service provider</a:t>
            </a:r>
          </a:p>
          <a:p>
            <a:pPr>
              <a:spcAft>
                <a:spcPts val="500"/>
              </a:spcAft>
              <a:defRPr sz="1400">
                <a:solidFill>
                  <a:srgbClr val="162D4C"/>
                </a:solidFill>
                <a:latin typeface="Aptos"/>
              </a:defRPr>
            </a:pPr>
            <a:r>
              <a:t>•  Software development, product engineering and platforms</a:t>
            </a:r>
          </a:p>
          <a:p>
            <a:pPr>
              <a:spcAft>
                <a:spcPts val="500"/>
              </a:spcAft>
              <a:defRPr sz="1400">
                <a:solidFill>
                  <a:srgbClr val="162D4C"/>
                </a:solidFill>
                <a:latin typeface="Aptos"/>
              </a:defRPr>
            </a:pPr>
            <a:r>
              <a:t>•  Web design, hosting, real-time projects and training</a:t>
            </a:r>
          </a:p>
        </p:txBody>
      </p:sp>
      <p:sp>
        <p:nvSpPr>
          <p:cNvPr id="12" name="Rounded Rectangle 11"/>
          <p:cNvSpPr/>
          <p:nvPr/>
        </p:nvSpPr>
        <p:spPr>
          <a:xfrm>
            <a:off x="6126480" y="1600200"/>
            <a:ext cx="5349240" cy="19202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600200"/>
            <a:ext cx="73152" cy="192024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746504"/>
            <a:ext cx="4965192" cy="329184"/>
          </a:xfrm>
          <a:prstGeom prst="rect">
            <a:avLst/>
          </a:prstGeom>
          <a:noFill/>
        </p:spPr>
        <p:txBody>
          <a:bodyPr wrap="square" lIns="18288" rIns="18288" tIns="18288" bIns="18288">
            <a:spAutoFit/>
          </a:bodyPr>
          <a:lstStyle/>
          <a:p>
            <a:pPr>
              <a:defRPr sz="1600" b="1">
                <a:solidFill>
                  <a:srgbClr val="081B38"/>
                </a:solidFill>
                <a:latin typeface="Aptos Display"/>
              </a:defRPr>
            </a:pPr>
            <a:r>
              <a:t>Service areas</a:t>
            </a:r>
          </a:p>
        </p:txBody>
      </p:sp>
      <p:sp>
        <p:nvSpPr>
          <p:cNvPr id="15" name="TextBox 14"/>
          <p:cNvSpPr txBox="1"/>
          <p:nvPr/>
        </p:nvSpPr>
        <p:spPr>
          <a:xfrm>
            <a:off x="6327648" y="2167128"/>
            <a:ext cx="4965192" cy="1234440"/>
          </a:xfrm>
          <a:prstGeom prst="rect">
            <a:avLst/>
          </a:prstGeom>
          <a:noFill/>
        </p:spPr>
        <p:txBody>
          <a:bodyPr wrap="square" lIns="45720" rIns="45720" tIns="36576" bIns="18288">
            <a:spAutoFit/>
          </a:bodyPr>
          <a:lstStyle/>
          <a:p>
            <a:pPr>
              <a:spcAft>
                <a:spcPts val="500"/>
              </a:spcAft>
              <a:defRPr sz="1400">
                <a:solidFill>
                  <a:srgbClr val="162D4C"/>
                </a:solidFill>
                <a:latin typeface="Aptos"/>
              </a:defRPr>
            </a:pPr>
            <a:r>
              <a:t>•  Enterprise and custom applications</a:t>
            </a:r>
          </a:p>
          <a:p>
            <a:pPr>
              <a:spcAft>
                <a:spcPts val="500"/>
              </a:spcAft>
              <a:defRPr sz="1400">
                <a:solidFill>
                  <a:srgbClr val="162D4C"/>
                </a:solidFill>
                <a:latin typeface="Aptos"/>
              </a:defRPr>
            </a:pPr>
            <a:r>
              <a:t>•  E-business, payment solutions and content management</a:t>
            </a:r>
          </a:p>
          <a:p>
            <a:pPr>
              <a:spcAft>
                <a:spcPts val="500"/>
              </a:spcAft>
              <a:defRPr sz="1400">
                <a:solidFill>
                  <a:srgbClr val="162D4C"/>
                </a:solidFill>
                <a:latin typeface="Aptos"/>
              </a:defRPr>
            </a:pPr>
            <a:r>
              <a:t>•  Android apps, ERP, testing and IT training</a:t>
            </a:r>
          </a:p>
        </p:txBody>
      </p:sp>
      <p:sp>
        <p:nvSpPr>
          <p:cNvPr id="16" name="Rounded Rectangle 15"/>
          <p:cNvSpPr/>
          <p:nvPr/>
        </p:nvSpPr>
        <p:spPr>
          <a:xfrm>
            <a:off x="685800" y="3794760"/>
            <a:ext cx="5212080" cy="141732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3794760"/>
            <a:ext cx="73152" cy="1417320"/>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941064"/>
            <a:ext cx="4828032" cy="329184"/>
          </a:xfrm>
          <a:prstGeom prst="rect">
            <a:avLst/>
          </a:prstGeom>
          <a:noFill/>
        </p:spPr>
        <p:txBody>
          <a:bodyPr wrap="square" lIns="18288" rIns="18288" tIns="18288" bIns="18288">
            <a:spAutoFit/>
          </a:bodyPr>
          <a:lstStyle/>
          <a:p>
            <a:pPr>
              <a:defRPr sz="1600" b="1">
                <a:solidFill>
                  <a:srgbClr val="081B38"/>
                </a:solidFill>
                <a:latin typeface="Aptos Display"/>
              </a:defRPr>
            </a:pPr>
            <a:r>
              <a:t>Mission focus</a:t>
            </a:r>
          </a:p>
        </p:txBody>
      </p:sp>
      <p:sp>
        <p:nvSpPr>
          <p:cNvPr id="19" name="TextBox 18"/>
          <p:cNvSpPr txBox="1"/>
          <p:nvPr/>
        </p:nvSpPr>
        <p:spPr>
          <a:xfrm>
            <a:off x="886968" y="4361688"/>
            <a:ext cx="4828032" cy="731520"/>
          </a:xfrm>
          <a:prstGeom prst="rect">
            <a:avLst/>
          </a:prstGeom>
          <a:noFill/>
        </p:spPr>
        <p:txBody>
          <a:bodyPr wrap="square" lIns="18288" rIns="18288" tIns="18288" bIns="18288">
            <a:spAutoFit/>
          </a:bodyPr>
          <a:lstStyle/>
          <a:p>
            <a:pPr>
              <a:defRPr sz="1400" b="0">
                <a:solidFill>
                  <a:srgbClr val="162D4C"/>
                </a:solidFill>
                <a:latin typeface="Aptos"/>
              </a:defRPr>
            </a:pPr>
            <a:r>
              <a:t>Quality software, secure access to information, better business communication and value for customers.</a:t>
            </a:r>
          </a:p>
        </p:txBody>
      </p:sp>
      <p:sp>
        <p:nvSpPr>
          <p:cNvPr id="20" name="Rounded Rectangle 19"/>
          <p:cNvSpPr/>
          <p:nvPr/>
        </p:nvSpPr>
        <p:spPr>
          <a:xfrm>
            <a:off x="6126480" y="3794760"/>
            <a:ext cx="5349240" cy="141732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3794760"/>
            <a:ext cx="73152" cy="141732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3941064"/>
            <a:ext cx="4965192" cy="329184"/>
          </a:xfrm>
          <a:prstGeom prst="rect">
            <a:avLst/>
          </a:prstGeom>
          <a:noFill/>
        </p:spPr>
        <p:txBody>
          <a:bodyPr wrap="square" lIns="18288" rIns="18288" tIns="18288" bIns="18288">
            <a:spAutoFit/>
          </a:bodyPr>
          <a:lstStyle/>
          <a:p>
            <a:pPr>
              <a:defRPr sz="1600" b="1">
                <a:solidFill>
                  <a:srgbClr val="081B38"/>
                </a:solidFill>
                <a:latin typeface="Aptos Display"/>
              </a:defRPr>
            </a:pPr>
            <a:r>
              <a:t>Vision</a:t>
            </a:r>
          </a:p>
        </p:txBody>
      </p:sp>
      <p:sp>
        <p:nvSpPr>
          <p:cNvPr id="23" name="TextBox 22"/>
          <p:cNvSpPr txBox="1"/>
          <p:nvPr/>
        </p:nvSpPr>
        <p:spPr>
          <a:xfrm>
            <a:off x="6327648" y="4361688"/>
            <a:ext cx="4965192" cy="731520"/>
          </a:xfrm>
          <a:prstGeom prst="rect">
            <a:avLst/>
          </a:prstGeom>
          <a:noFill/>
        </p:spPr>
        <p:txBody>
          <a:bodyPr wrap="square" lIns="18288" rIns="18288" tIns="18288" bIns="18288">
            <a:spAutoFit/>
          </a:bodyPr>
          <a:lstStyle/>
          <a:p>
            <a:pPr>
              <a:defRPr sz="1400" b="0">
                <a:solidFill>
                  <a:srgbClr val="162D4C"/>
                </a:solidFill>
                <a:latin typeface="Aptos"/>
              </a:defRPr>
            </a:pPr>
            <a:r>
              <a:t>To be a leading IT company for consulting and best-of-breed business solutions.</a:t>
            </a:r>
          </a:p>
        </p:txBody>
      </p:sp>
      <p:sp>
        <p:nvSpPr>
          <p:cNvPr id="24" name="TextBox 23"/>
          <p:cNvSpPr txBox="1"/>
          <p:nvPr/>
        </p:nvSpPr>
        <p:spPr>
          <a:xfrm>
            <a:off x="731520" y="5623560"/>
            <a:ext cx="10789920" cy="411480"/>
          </a:xfrm>
          <a:prstGeom prst="rect">
            <a:avLst/>
          </a:prstGeom>
          <a:noFill/>
        </p:spPr>
        <p:txBody>
          <a:bodyPr wrap="square" lIns="18288" rIns="18288" tIns="18288" bIns="18288">
            <a:spAutoFit/>
          </a:bodyPr>
          <a:lstStyle/>
          <a:p>
            <a:pPr>
              <a:defRPr sz="1200" b="1">
                <a:solidFill>
                  <a:srgbClr val="4E6C91"/>
                </a:solidFill>
                <a:latin typeface="Aptos"/>
              </a:defRPr>
            </a:pPr>
            <a:r>
              <a:t>Industry guide: Mr. Bragatheesh  •  Designation: Software Developer  •  Qualification: MCA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TRAINING</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Internship Training Roadmap</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05</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58368" y="1828800"/>
            <a:ext cx="2057400" cy="26060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828800"/>
            <a:ext cx="2057400" cy="118872"/>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84831"/>
            <a:ext cx="1783080" cy="256032"/>
          </a:xfrm>
          <a:prstGeom prst="rect">
            <a:avLst/>
          </a:prstGeom>
          <a:noFill/>
        </p:spPr>
        <p:txBody>
          <a:bodyPr wrap="square" lIns="18288" rIns="18288" tIns="18288" bIns="18288">
            <a:spAutoFit/>
          </a:bodyPr>
          <a:lstStyle/>
          <a:p>
            <a:pPr algn="ctr">
              <a:defRPr sz="1000" b="1">
                <a:solidFill>
                  <a:srgbClr val="235CB4"/>
                </a:solidFill>
                <a:latin typeface="Aptos"/>
              </a:defRPr>
            </a:pPr>
            <a:r>
              <a:t>DAYS 1–10</a:t>
            </a:r>
          </a:p>
        </p:txBody>
      </p:sp>
      <p:sp>
        <p:nvSpPr>
          <p:cNvPr id="11" name="TextBox 10"/>
          <p:cNvSpPr txBox="1"/>
          <p:nvPr/>
        </p:nvSpPr>
        <p:spPr>
          <a:xfrm>
            <a:off x="795528" y="2514600"/>
            <a:ext cx="1783080" cy="621792"/>
          </a:xfrm>
          <a:prstGeom prst="rect">
            <a:avLst/>
          </a:prstGeom>
          <a:noFill/>
        </p:spPr>
        <p:txBody>
          <a:bodyPr wrap="square" lIns="18288" rIns="18288" tIns="18288" bIns="18288">
            <a:spAutoFit/>
          </a:bodyPr>
          <a:lstStyle/>
          <a:p>
            <a:pPr algn="ctr">
              <a:defRPr sz="1500" b="1">
                <a:solidFill>
                  <a:srgbClr val="081B38"/>
                </a:solidFill>
                <a:latin typeface="Aptos Display"/>
              </a:defRPr>
            </a:pPr>
            <a:r>
              <a:t>Orientation &amp; Java foundations</a:t>
            </a:r>
          </a:p>
        </p:txBody>
      </p:sp>
      <p:sp>
        <p:nvSpPr>
          <p:cNvPr id="12" name="TextBox 11"/>
          <p:cNvSpPr txBox="1"/>
          <p:nvPr/>
        </p:nvSpPr>
        <p:spPr>
          <a:xfrm>
            <a:off x="795528" y="3310128"/>
            <a:ext cx="1783080" cy="841248"/>
          </a:xfrm>
          <a:prstGeom prst="rect">
            <a:avLst/>
          </a:prstGeom>
          <a:noFill/>
        </p:spPr>
        <p:txBody>
          <a:bodyPr wrap="square" lIns="18288" rIns="18288" tIns="18288" bIns="18288">
            <a:spAutoFit/>
          </a:bodyPr>
          <a:lstStyle/>
          <a:p>
            <a:pPr algn="ctr">
              <a:defRPr sz="1200" b="0">
                <a:solidFill>
                  <a:srgbClr val="526985"/>
                </a:solidFill>
                <a:latin typeface="Aptos"/>
              </a:defRPr>
            </a:pPr>
            <a:r>
              <a:t>Core Java, OOP, exceptions and debugging</a:t>
            </a:r>
          </a:p>
        </p:txBody>
      </p:sp>
      <p:sp>
        <p:nvSpPr>
          <p:cNvPr id="13" name="TextBox 12"/>
          <p:cNvSpPr txBox="1"/>
          <p:nvPr/>
        </p:nvSpPr>
        <p:spPr>
          <a:xfrm>
            <a:off x="2743200" y="2834640"/>
            <a:ext cx="201168" cy="320040"/>
          </a:xfrm>
          <a:prstGeom prst="rect">
            <a:avLst/>
          </a:prstGeom>
          <a:noFill/>
        </p:spPr>
        <p:txBody>
          <a:bodyPr wrap="square" lIns="18288" rIns="18288" tIns="18288" bIns="18288">
            <a:spAutoFit/>
          </a:bodyPr>
          <a:lstStyle/>
          <a:p>
            <a:pPr algn="ctr">
              <a:defRPr sz="2600" b="1">
                <a:solidFill>
                  <a:srgbClr val="377ED6"/>
                </a:solidFill>
                <a:latin typeface="Aptos"/>
              </a:defRPr>
            </a:pPr>
            <a:r>
              <a:t>›</a:t>
            </a:r>
          </a:p>
        </p:txBody>
      </p:sp>
      <p:sp>
        <p:nvSpPr>
          <p:cNvPr id="14" name="Rounded Rectangle 13"/>
          <p:cNvSpPr/>
          <p:nvPr/>
        </p:nvSpPr>
        <p:spPr>
          <a:xfrm>
            <a:off x="2962656" y="1828800"/>
            <a:ext cx="2057400" cy="26060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62656" y="1828800"/>
            <a:ext cx="2057400" cy="118872"/>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99816" y="2084831"/>
            <a:ext cx="1783080" cy="256032"/>
          </a:xfrm>
          <a:prstGeom prst="rect">
            <a:avLst/>
          </a:prstGeom>
          <a:noFill/>
        </p:spPr>
        <p:txBody>
          <a:bodyPr wrap="square" lIns="18288" rIns="18288" tIns="18288" bIns="18288">
            <a:spAutoFit/>
          </a:bodyPr>
          <a:lstStyle/>
          <a:p>
            <a:pPr algn="ctr">
              <a:defRPr sz="1000" b="1">
                <a:solidFill>
                  <a:srgbClr val="235CB4"/>
                </a:solidFill>
                <a:latin typeface="Aptos"/>
              </a:defRPr>
            </a:pPr>
            <a:r>
              <a:t>DAYS 11–15</a:t>
            </a:r>
          </a:p>
        </p:txBody>
      </p:sp>
      <p:sp>
        <p:nvSpPr>
          <p:cNvPr id="17" name="TextBox 16"/>
          <p:cNvSpPr txBox="1"/>
          <p:nvPr/>
        </p:nvSpPr>
        <p:spPr>
          <a:xfrm>
            <a:off x="3099816" y="2514600"/>
            <a:ext cx="1783080" cy="621792"/>
          </a:xfrm>
          <a:prstGeom prst="rect">
            <a:avLst/>
          </a:prstGeom>
          <a:noFill/>
        </p:spPr>
        <p:txBody>
          <a:bodyPr wrap="square" lIns="18288" rIns="18288" tIns="18288" bIns="18288">
            <a:spAutoFit/>
          </a:bodyPr>
          <a:lstStyle/>
          <a:p>
            <a:pPr algn="ctr">
              <a:defRPr sz="1500" b="1">
                <a:solidFill>
                  <a:srgbClr val="081B38"/>
                </a:solidFill>
                <a:latin typeface="Aptos Display"/>
              </a:defRPr>
            </a:pPr>
            <a:r>
              <a:t>Database, GUI &amp; web</a:t>
            </a:r>
          </a:p>
        </p:txBody>
      </p:sp>
      <p:sp>
        <p:nvSpPr>
          <p:cNvPr id="18" name="TextBox 17"/>
          <p:cNvSpPr txBox="1"/>
          <p:nvPr/>
        </p:nvSpPr>
        <p:spPr>
          <a:xfrm>
            <a:off x="3099816" y="3310128"/>
            <a:ext cx="1783080" cy="841248"/>
          </a:xfrm>
          <a:prstGeom prst="rect">
            <a:avLst/>
          </a:prstGeom>
          <a:noFill/>
        </p:spPr>
        <p:txBody>
          <a:bodyPr wrap="square" lIns="18288" rIns="18288" tIns="18288" bIns="18288">
            <a:spAutoFit/>
          </a:bodyPr>
          <a:lstStyle/>
          <a:p>
            <a:pPr algn="ctr">
              <a:defRPr sz="1200" b="0">
                <a:solidFill>
                  <a:srgbClr val="526985"/>
                </a:solidFill>
                <a:latin typeface="Aptos"/>
              </a:defRPr>
            </a:pPr>
            <a:r>
              <a:t>JDBC, SQL, JavaFX, Servlets and JSP</a:t>
            </a:r>
          </a:p>
        </p:txBody>
      </p:sp>
      <p:sp>
        <p:nvSpPr>
          <p:cNvPr id="19" name="TextBox 18"/>
          <p:cNvSpPr txBox="1"/>
          <p:nvPr/>
        </p:nvSpPr>
        <p:spPr>
          <a:xfrm>
            <a:off x="5047488" y="2834640"/>
            <a:ext cx="201168" cy="320040"/>
          </a:xfrm>
          <a:prstGeom prst="rect">
            <a:avLst/>
          </a:prstGeom>
          <a:noFill/>
        </p:spPr>
        <p:txBody>
          <a:bodyPr wrap="square" lIns="18288" rIns="18288" tIns="18288" bIns="18288">
            <a:spAutoFit/>
          </a:bodyPr>
          <a:lstStyle/>
          <a:p>
            <a:pPr algn="ctr">
              <a:defRPr sz="2600" b="1">
                <a:solidFill>
                  <a:srgbClr val="377ED6"/>
                </a:solidFill>
                <a:latin typeface="Aptos"/>
              </a:defRPr>
            </a:pPr>
            <a:r>
              <a:t>›</a:t>
            </a:r>
          </a:p>
        </p:txBody>
      </p:sp>
      <p:sp>
        <p:nvSpPr>
          <p:cNvPr id="20" name="Rounded Rectangle 19"/>
          <p:cNvSpPr/>
          <p:nvPr/>
        </p:nvSpPr>
        <p:spPr>
          <a:xfrm>
            <a:off x="5266944" y="1828800"/>
            <a:ext cx="2057400" cy="26060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66944" y="1828800"/>
            <a:ext cx="2057400" cy="118872"/>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04104" y="2084831"/>
            <a:ext cx="1783080" cy="256032"/>
          </a:xfrm>
          <a:prstGeom prst="rect">
            <a:avLst/>
          </a:prstGeom>
          <a:noFill/>
        </p:spPr>
        <p:txBody>
          <a:bodyPr wrap="square" lIns="18288" rIns="18288" tIns="18288" bIns="18288">
            <a:spAutoFit/>
          </a:bodyPr>
          <a:lstStyle/>
          <a:p>
            <a:pPr algn="ctr">
              <a:defRPr sz="1000" b="1">
                <a:solidFill>
                  <a:srgbClr val="235CB4"/>
                </a:solidFill>
                <a:latin typeface="Aptos"/>
              </a:defRPr>
            </a:pPr>
            <a:r>
              <a:t>DAYS 16–24</a:t>
            </a:r>
          </a:p>
        </p:txBody>
      </p:sp>
      <p:sp>
        <p:nvSpPr>
          <p:cNvPr id="23" name="TextBox 22"/>
          <p:cNvSpPr txBox="1"/>
          <p:nvPr/>
        </p:nvSpPr>
        <p:spPr>
          <a:xfrm>
            <a:off x="5404104" y="2514600"/>
            <a:ext cx="1783080" cy="621792"/>
          </a:xfrm>
          <a:prstGeom prst="rect">
            <a:avLst/>
          </a:prstGeom>
          <a:noFill/>
        </p:spPr>
        <p:txBody>
          <a:bodyPr wrap="square" lIns="18288" rIns="18288" tIns="18288" bIns="18288">
            <a:spAutoFit/>
          </a:bodyPr>
          <a:lstStyle/>
          <a:p>
            <a:pPr algn="ctr">
              <a:defRPr sz="1500" b="1">
                <a:solidFill>
                  <a:srgbClr val="081B38"/>
                </a:solidFill>
                <a:latin typeface="Aptos Display"/>
              </a:defRPr>
            </a:pPr>
            <a:r>
              <a:t>E-commerce analysis &amp; build</a:t>
            </a:r>
          </a:p>
        </p:txBody>
      </p:sp>
      <p:sp>
        <p:nvSpPr>
          <p:cNvPr id="24" name="TextBox 23"/>
          <p:cNvSpPr txBox="1"/>
          <p:nvPr/>
        </p:nvSpPr>
        <p:spPr>
          <a:xfrm>
            <a:off x="5404104" y="3310128"/>
            <a:ext cx="1783080" cy="841248"/>
          </a:xfrm>
          <a:prstGeom prst="rect">
            <a:avLst/>
          </a:prstGeom>
          <a:noFill/>
        </p:spPr>
        <p:txBody>
          <a:bodyPr wrap="square" lIns="18288" rIns="18288" tIns="18288" bIns="18288">
            <a:spAutoFit/>
          </a:bodyPr>
          <a:lstStyle/>
          <a:p>
            <a:pPr algn="ctr">
              <a:defRPr sz="1200" b="0">
                <a:solidFill>
                  <a:srgbClr val="526985"/>
                </a:solidFill>
                <a:latin typeface="Aptos"/>
              </a:defRPr>
            </a:pPr>
            <a:r>
              <a:t>Requirements, design and project modules</a:t>
            </a:r>
          </a:p>
        </p:txBody>
      </p:sp>
      <p:sp>
        <p:nvSpPr>
          <p:cNvPr id="25" name="TextBox 24"/>
          <p:cNvSpPr txBox="1"/>
          <p:nvPr/>
        </p:nvSpPr>
        <p:spPr>
          <a:xfrm>
            <a:off x="7351775" y="2834640"/>
            <a:ext cx="201168" cy="320040"/>
          </a:xfrm>
          <a:prstGeom prst="rect">
            <a:avLst/>
          </a:prstGeom>
          <a:noFill/>
        </p:spPr>
        <p:txBody>
          <a:bodyPr wrap="square" lIns="18288" rIns="18288" tIns="18288" bIns="18288">
            <a:spAutoFit/>
          </a:bodyPr>
          <a:lstStyle/>
          <a:p>
            <a:pPr algn="ctr">
              <a:defRPr sz="2600" b="1">
                <a:solidFill>
                  <a:srgbClr val="377ED6"/>
                </a:solidFill>
                <a:latin typeface="Aptos"/>
              </a:defRPr>
            </a:pPr>
            <a:r>
              <a:t>›</a:t>
            </a:r>
          </a:p>
        </p:txBody>
      </p:sp>
      <p:sp>
        <p:nvSpPr>
          <p:cNvPr id="26" name="Rounded Rectangle 25"/>
          <p:cNvSpPr/>
          <p:nvPr/>
        </p:nvSpPr>
        <p:spPr>
          <a:xfrm>
            <a:off x="7571232" y="1828800"/>
            <a:ext cx="2057400" cy="26060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571232" y="1828800"/>
            <a:ext cx="2057400" cy="118872"/>
          </a:xfrm>
          <a:prstGeom prst="rect">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08392" y="2084831"/>
            <a:ext cx="1783080" cy="256032"/>
          </a:xfrm>
          <a:prstGeom prst="rect">
            <a:avLst/>
          </a:prstGeom>
          <a:noFill/>
        </p:spPr>
        <p:txBody>
          <a:bodyPr wrap="square" lIns="18288" rIns="18288" tIns="18288" bIns="18288">
            <a:spAutoFit/>
          </a:bodyPr>
          <a:lstStyle/>
          <a:p>
            <a:pPr algn="ctr">
              <a:defRPr sz="1000" b="1">
                <a:solidFill>
                  <a:srgbClr val="235CB4"/>
                </a:solidFill>
                <a:latin typeface="Aptos"/>
              </a:defRPr>
            </a:pPr>
            <a:r>
              <a:t>DAYS 25–28</a:t>
            </a:r>
          </a:p>
        </p:txBody>
      </p:sp>
      <p:sp>
        <p:nvSpPr>
          <p:cNvPr id="29" name="TextBox 28"/>
          <p:cNvSpPr txBox="1"/>
          <p:nvPr/>
        </p:nvSpPr>
        <p:spPr>
          <a:xfrm>
            <a:off x="7708392" y="2514600"/>
            <a:ext cx="1783080" cy="621792"/>
          </a:xfrm>
          <a:prstGeom prst="rect">
            <a:avLst/>
          </a:prstGeom>
          <a:noFill/>
        </p:spPr>
        <p:txBody>
          <a:bodyPr wrap="square" lIns="18288" rIns="18288" tIns="18288" bIns="18288">
            <a:spAutoFit/>
          </a:bodyPr>
          <a:lstStyle/>
          <a:p>
            <a:pPr algn="ctr">
              <a:defRPr sz="1500" b="1">
                <a:solidFill>
                  <a:srgbClr val="081B38"/>
                </a:solidFill>
                <a:latin typeface="Aptos Display"/>
              </a:defRPr>
            </a:pPr>
            <a:r>
              <a:t>Security, testing &amp; deployment</a:t>
            </a:r>
          </a:p>
        </p:txBody>
      </p:sp>
      <p:sp>
        <p:nvSpPr>
          <p:cNvPr id="30" name="TextBox 29"/>
          <p:cNvSpPr txBox="1"/>
          <p:nvPr/>
        </p:nvSpPr>
        <p:spPr>
          <a:xfrm>
            <a:off x="7708392" y="3310128"/>
            <a:ext cx="1783080" cy="841248"/>
          </a:xfrm>
          <a:prstGeom prst="rect">
            <a:avLst/>
          </a:prstGeom>
          <a:noFill/>
        </p:spPr>
        <p:txBody>
          <a:bodyPr wrap="square" lIns="18288" rIns="18288" tIns="18288" bIns="18288">
            <a:spAutoFit/>
          </a:bodyPr>
          <a:lstStyle/>
          <a:p>
            <a:pPr algn="ctr">
              <a:defRPr sz="1200" b="0">
                <a:solidFill>
                  <a:srgbClr val="526985"/>
                </a:solidFill>
                <a:latin typeface="Aptos"/>
              </a:defRPr>
            </a:pPr>
            <a:r>
              <a:t>Spring Security, JUnit, Git and Tomcat</a:t>
            </a:r>
          </a:p>
        </p:txBody>
      </p:sp>
      <p:sp>
        <p:nvSpPr>
          <p:cNvPr id="31" name="TextBox 30"/>
          <p:cNvSpPr txBox="1"/>
          <p:nvPr/>
        </p:nvSpPr>
        <p:spPr>
          <a:xfrm>
            <a:off x="9656064" y="2834640"/>
            <a:ext cx="201168" cy="320040"/>
          </a:xfrm>
          <a:prstGeom prst="rect">
            <a:avLst/>
          </a:prstGeom>
          <a:noFill/>
        </p:spPr>
        <p:txBody>
          <a:bodyPr wrap="square" lIns="18288" rIns="18288" tIns="18288" bIns="18288">
            <a:spAutoFit/>
          </a:bodyPr>
          <a:lstStyle/>
          <a:p>
            <a:pPr algn="ctr">
              <a:defRPr sz="2600" b="1">
                <a:solidFill>
                  <a:srgbClr val="377ED6"/>
                </a:solidFill>
                <a:latin typeface="Aptos"/>
              </a:defRPr>
            </a:pPr>
            <a:r>
              <a:t>›</a:t>
            </a:r>
          </a:p>
        </p:txBody>
      </p:sp>
      <p:sp>
        <p:nvSpPr>
          <p:cNvPr id="32" name="Rounded Rectangle 31"/>
          <p:cNvSpPr/>
          <p:nvPr/>
        </p:nvSpPr>
        <p:spPr>
          <a:xfrm>
            <a:off x="9875520" y="1828800"/>
            <a:ext cx="2057400" cy="26060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75520" y="1828800"/>
            <a:ext cx="2057400" cy="118872"/>
          </a:xfrm>
          <a:prstGeom prst="rect">
            <a:avLst/>
          </a:prstGeom>
          <a:solidFill>
            <a:srgbClr val="4E6C91"/>
          </a:solidFill>
          <a:ln>
            <a:solidFill>
              <a:srgbClr val="4E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12680" y="2084831"/>
            <a:ext cx="1783080" cy="256032"/>
          </a:xfrm>
          <a:prstGeom prst="rect">
            <a:avLst/>
          </a:prstGeom>
          <a:noFill/>
        </p:spPr>
        <p:txBody>
          <a:bodyPr wrap="square" lIns="18288" rIns="18288" tIns="18288" bIns="18288">
            <a:spAutoFit/>
          </a:bodyPr>
          <a:lstStyle/>
          <a:p>
            <a:pPr algn="ctr">
              <a:defRPr sz="1000" b="1">
                <a:solidFill>
                  <a:srgbClr val="235CB4"/>
                </a:solidFill>
                <a:latin typeface="Aptos"/>
              </a:defRPr>
            </a:pPr>
            <a:r>
              <a:t>DAYS 29–30</a:t>
            </a:r>
          </a:p>
        </p:txBody>
      </p:sp>
      <p:sp>
        <p:nvSpPr>
          <p:cNvPr id="35" name="TextBox 34"/>
          <p:cNvSpPr txBox="1"/>
          <p:nvPr/>
        </p:nvSpPr>
        <p:spPr>
          <a:xfrm>
            <a:off x="10012680" y="2514600"/>
            <a:ext cx="1783080" cy="621792"/>
          </a:xfrm>
          <a:prstGeom prst="rect">
            <a:avLst/>
          </a:prstGeom>
          <a:noFill/>
        </p:spPr>
        <p:txBody>
          <a:bodyPr wrap="square" lIns="18288" rIns="18288" tIns="18288" bIns="18288">
            <a:spAutoFit/>
          </a:bodyPr>
          <a:lstStyle/>
          <a:p>
            <a:pPr algn="ctr">
              <a:defRPr sz="1500" b="1">
                <a:solidFill>
                  <a:srgbClr val="081B38"/>
                </a:solidFill>
                <a:latin typeface="Aptos Display"/>
              </a:defRPr>
            </a:pPr>
            <a:r>
              <a:t>Review &amp; wrap-up</a:t>
            </a:r>
          </a:p>
        </p:txBody>
      </p:sp>
      <p:sp>
        <p:nvSpPr>
          <p:cNvPr id="36" name="TextBox 35"/>
          <p:cNvSpPr txBox="1"/>
          <p:nvPr/>
        </p:nvSpPr>
        <p:spPr>
          <a:xfrm>
            <a:off x="10012680" y="3310128"/>
            <a:ext cx="1783080" cy="841248"/>
          </a:xfrm>
          <a:prstGeom prst="rect">
            <a:avLst/>
          </a:prstGeom>
          <a:noFill/>
        </p:spPr>
        <p:txBody>
          <a:bodyPr wrap="square" lIns="18288" rIns="18288" tIns="18288" bIns="18288">
            <a:spAutoFit/>
          </a:bodyPr>
          <a:lstStyle/>
          <a:p>
            <a:pPr algn="ctr">
              <a:defRPr sz="1200" b="0">
                <a:solidFill>
                  <a:srgbClr val="526985"/>
                </a:solidFill>
                <a:latin typeface="Aptos"/>
              </a:defRPr>
            </a:pPr>
            <a:r>
              <a:t>Assessment, documentation and presentation</a:t>
            </a:r>
          </a:p>
        </p:txBody>
      </p:sp>
      <p:sp>
        <p:nvSpPr>
          <p:cNvPr id="37" name="TextBox 36"/>
          <p:cNvSpPr txBox="1"/>
          <p:nvPr/>
        </p:nvSpPr>
        <p:spPr>
          <a:xfrm>
            <a:off x="914400" y="5074920"/>
            <a:ext cx="10332720" cy="502920"/>
          </a:xfrm>
          <a:prstGeom prst="rect">
            <a:avLst/>
          </a:prstGeom>
          <a:noFill/>
        </p:spPr>
        <p:txBody>
          <a:bodyPr wrap="square" lIns="18288" rIns="18288" tIns="18288" bIns="18288">
            <a:spAutoFit/>
          </a:bodyPr>
          <a:lstStyle/>
          <a:p>
            <a:pPr algn="ctr">
              <a:defRPr sz="1700" b="1">
                <a:solidFill>
                  <a:srgbClr val="0D305E"/>
                </a:solidFill>
                <a:latin typeface="Aptos"/>
              </a:defRPr>
            </a:pPr>
            <a:r>
              <a:t>Approach: short explanations → coding exercises → project application →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PROJECT OVERVIEW</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Problem Statement &amp; Existing-System Limitations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06</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TextBox 7"/>
          <p:cNvSpPr txBox="1"/>
          <p:nvPr/>
        </p:nvSpPr>
        <p:spPr>
          <a:xfrm>
            <a:off x="731520" y="1508760"/>
            <a:ext cx="10789920" cy="566928"/>
          </a:xfrm>
          <a:prstGeom prst="rect">
            <a:avLst/>
          </a:prstGeom>
          <a:noFill/>
        </p:spPr>
        <p:txBody>
          <a:bodyPr wrap="square" lIns="18288" rIns="18288" tIns="18288" bIns="18288">
            <a:spAutoFit/>
          </a:bodyPr>
          <a:lstStyle/>
          <a:p>
            <a:pPr>
              <a:defRPr sz="1800" b="1">
                <a:solidFill>
                  <a:srgbClr val="081B38"/>
                </a:solidFill>
                <a:latin typeface="Aptos"/>
              </a:defRPr>
            </a:pPr>
            <a:r>
              <a:t>Manual processes make it difficult for small and medium sellers to manage online orders reliably.</a:t>
            </a:r>
          </a:p>
        </p:txBody>
      </p:sp>
      <p:sp>
        <p:nvSpPr>
          <p:cNvPr id="9" name="Rounded Rectangle 8"/>
          <p:cNvSpPr/>
          <p:nvPr/>
        </p:nvSpPr>
        <p:spPr>
          <a:xfrm>
            <a:off x="685800" y="2423160"/>
            <a:ext cx="3474720" cy="11430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423160"/>
            <a:ext cx="73152" cy="114300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569464"/>
            <a:ext cx="3090672" cy="329184"/>
          </a:xfrm>
          <a:prstGeom prst="rect">
            <a:avLst/>
          </a:prstGeom>
          <a:noFill/>
        </p:spPr>
        <p:txBody>
          <a:bodyPr wrap="square" lIns="18288" rIns="18288" tIns="18288" bIns="18288">
            <a:spAutoFit/>
          </a:bodyPr>
          <a:lstStyle/>
          <a:p>
            <a:pPr>
              <a:defRPr sz="1600" b="1">
                <a:solidFill>
                  <a:srgbClr val="081B38"/>
                </a:solidFill>
                <a:latin typeface="Aptos Display"/>
              </a:defRPr>
            </a:pPr>
            <a:r>
              <a:t>Limited reach</a:t>
            </a:r>
          </a:p>
        </p:txBody>
      </p:sp>
      <p:sp>
        <p:nvSpPr>
          <p:cNvPr id="12" name="TextBox 11"/>
          <p:cNvSpPr txBox="1"/>
          <p:nvPr/>
        </p:nvSpPr>
        <p:spPr>
          <a:xfrm>
            <a:off x="886968" y="2990088"/>
            <a:ext cx="3090672" cy="457200"/>
          </a:xfrm>
          <a:prstGeom prst="rect">
            <a:avLst/>
          </a:prstGeom>
          <a:noFill/>
        </p:spPr>
        <p:txBody>
          <a:bodyPr wrap="square" lIns="18288" rIns="18288" tIns="18288" bIns="18288">
            <a:spAutoFit/>
          </a:bodyPr>
          <a:lstStyle/>
          <a:p>
            <a:pPr>
              <a:defRPr sz="1200" b="0">
                <a:solidFill>
                  <a:srgbClr val="162D4C"/>
                </a:solidFill>
                <a:latin typeface="Aptos"/>
              </a:defRPr>
            </a:pPr>
            <a:r>
              <a:t>Products are visible only to walk-in customers or message recipients.</a:t>
            </a:r>
          </a:p>
        </p:txBody>
      </p:sp>
      <p:sp>
        <p:nvSpPr>
          <p:cNvPr id="13" name="Rounded Rectangle 12"/>
          <p:cNvSpPr/>
          <p:nvPr/>
        </p:nvSpPr>
        <p:spPr>
          <a:xfrm>
            <a:off x="4480560" y="2423160"/>
            <a:ext cx="3474720" cy="11430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2423160"/>
            <a:ext cx="73152" cy="114300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2569464"/>
            <a:ext cx="3090672" cy="329184"/>
          </a:xfrm>
          <a:prstGeom prst="rect">
            <a:avLst/>
          </a:prstGeom>
          <a:noFill/>
        </p:spPr>
        <p:txBody>
          <a:bodyPr wrap="square" lIns="18288" rIns="18288" tIns="18288" bIns="18288">
            <a:spAutoFit/>
          </a:bodyPr>
          <a:lstStyle/>
          <a:p>
            <a:pPr>
              <a:defRPr sz="1600" b="1">
                <a:solidFill>
                  <a:srgbClr val="081B38"/>
                </a:solidFill>
                <a:latin typeface="Aptos Display"/>
              </a:defRPr>
            </a:pPr>
            <a:r>
              <a:t>Manual orders</a:t>
            </a:r>
          </a:p>
        </p:txBody>
      </p:sp>
      <p:sp>
        <p:nvSpPr>
          <p:cNvPr id="16" name="TextBox 15"/>
          <p:cNvSpPr txBox="1"/>
          <p:nvPr/>
        </p:nvSpPr>
        <p:spPr>
          <a:xfrm>
            <a:off x="4681728" y="2990088"/>
            <a:ext cx="3090672" cy="457200"/>
          </a:xfrm>
          <a:prstGeom prst="rect">
            <a:avLst/>
          </a:prstGeom>
          <a:noFill/>
        </p:spPr>
        <p:txBody>
          <a:bodyPr wrap="square" lIns="18288" rIns="18288" tIns="18288" bIns="18288">
            <a:spAutoFit/>
          </a:bodyPr>
          <a:lstStyle/>
          <a:p>
            <a:pPr>
              <a:defRPr sz="1200" b="0">
                <a:solidFill>
                  <a:srgbClr val="162D4C"/>
                </a:solidFill>
                <a:latin typeface="Aptos"/>
              </a:defRPr>
            </a:pPr>
            <a:r>
              <a:t>Phone/chat orders may be lost or duplicated.</a:t>
            </a:r>
          </a:p>
        </p:txBody>
      </p:sp>
      <p:sp>
        <p:nvSpPr>
          <p:cNvPr id="17" name="Rounded Rectangle 16"/>
          <p:cNvSpPr/>
          <p:nvPr/>
        </p:nvSpPr>
        <p:spPr>
          <a:xfrm>
            <a:off x="8275320" y="2423160"/>
            <a:ext cx="3474720" cy="11430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2423160"/>
            <a:ext cx="73152" cy="1143000"/>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569464"/>
            <a:ext cx="3090672" cy="329184"/>
          </a:xfrm>
          <a:prstGeom prst="rect">
            <a:avLst/>
          </a:prstGeom>
          <a:noFill/>
        </p:spPr>
        <p:txBody>
          <a:bodyPr wrap="square" lIns="18288" rIns="18288" tIns="18288" bIns="18288">
            <a:spAutoFit/>
          </a:bodyPr>
          <a:lstStyle/>
          <a:p>
            <a:pPr>
              <a:defRPr sz="1600" b="1">
                <a:solidFill>
                  <a:srgbClr val="081B38"/>
                </a:solidFill>
                <a:latin typeface="Aptos Display"/>
              </a:defRPr>
            </a:pPr>
            <a:r>
              <a:t>Stock mismatch</a:t>
            </a:r>
          </a:p>
        </p:txBody>
      </p:sp>
      <p:sp>
        <p:nvSpPr>
          <p:cNvPr id="20" name="TextBox 19"/>
          <p:cNvSpPr txBox="1"/>
          <p:nvPr/>
        </p:nvSpPr>
        <p:spPr>
          <a:xfrm>
            <a:off x="8476488" y="2990088"/>
            <a:ext cx="3090672" cy="457200"/>
          </a:xfrm>
          <a:prstGeom prst="rect">
            <a:avLst/>
          </a:prstGeom>
          <a:noFill/>
        </p:spPr>
        <p:txBody>
          <a:bodyPr wrap="square" lIns="18288" rIns="18288" tIns="18288" bIns="18288">
            <a:spAutoFit/>
          </a:bodyPr>
          <a:lstStyle/>
          <a:p>
            <a:pPr>
              <a:defRPr sz="1200" b="0">
                <a:solidFill>
                  <a:srgbClr val="162D4C"/>
                </a:solidFill>
                <a:latin typeface="Aptos"/>
              </a:defRPr>
            </a:pPr>
            <a:r>
              <a:t>Hand-updated stock can be inaccurate.</a:t>
            </a:r>
          </a:p>
        </p:txBody>
      </p:sp>
      <p:sp>
        <p:nvSpPr>
          <p:cNvPr id="21" name="Rounded Rectangle 20"/>
          <p:cNvSpPr/>
          <p:nvPr/>
        </p:nvSpPr>
        <p:spPr>
          <a:xfrm>
            <a:off x="685800" y="3840480"/>
            <a:ext cx="3474720" cy="11430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840480"/>
            <a:ext cx="73152" cy="114300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3986784"/>
            <a:ext cx="3090672" cy="329184"/>
          </a:xfrm>
          <a:prstGeom prst="rect">
            <a:avLst/>
          </a:prstGeom>
          <a:noFill/>
        </p:spPr>
        <p:txBody>
          <a:bodyPr wrap="square" lIns="18288" rIns="18288" tIns="18288" bIns="18288">
            <a:spAutoFit/>
          </a:bodyPr>
          <a:lstStyle/>
          <a:p>
            <a:pPr>
              <a:defRPr sz="1600" b="1">
                <a:solidFill>
                  <a:srgbClr val="081B38"/>
                </a:solidFill>
                <a:latin typeface="Aptos Display"/>
              </a:defRPr>
            </a:pPr>
            <a:r>
              <a:t>Billing errors</a:t>
            </a:r>
          </a:p>
        </p:txBody>
      </p:sp>
      <p:sp>
        <p:nvSpPr>
          <p:cNvPr id="24" name="TextBox 23"/>
          <p:cNvSpPr txBox="1"/>
          <p:nvPr/>
        </p:nvSpPr>
        <p:spPr>
          <a:xfrm>
            <a:off x="886968" y="4407408"/>
            <a:ext cx="3090672" cy="457200"/>
          </a:xfrm>
          <a:prstGeom prst="rect">
            <a:avLst/>
          </a:prstGeom>
          <a:noFill/>
        </p:spPr>
        <p:txBody>
          <a:bodyPr wrap="square" lIns="18288" rIns="18288" tIns="18288" bIns="18288">
            <a:spAutoFit/>
          </a:bodyPr>
          <a:lstStyle/>
          <a:p>
            <a:pPr>
              <a:defRPr sz="1200" b="0">
                <a:solidFill>
                  <a:srgbClr val="162D4C"/>
                </a:solidFill>
                <a:latin typeface="Aptos"/>
              </a:defRPr>
            </a:pPr>
            <a:r>
              <a:t>Totals, discounts, tax and delivery may be miscalculated.</a:t>
            </a:r>
          </a:p>
        </p:txBody>
      </p:sp>
      <p:sp>
        <p:nvSpPr>
          <p:cNvPr id="25" name="Rounded Rectangle 24"/>
          <p:cNvSpPr/>
          <p:nvPr/>
        </p:nvSpPr>
        <p:spPr>
          <a:xfrm>
            <a:off x="4480560" y="3840480"/>
            <a:ext cx="3474720" cy="11430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3840480"/>
            <a:ext cx="73152" cy="114300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1728" y="3986784"/>
            <a:ext cx="3090672" cy="329184"/>
          </a:xfrm>
          <a:prstGeom prst="rect">
            <a:avLst/>
          </a:prstGeom>
          <a:noFill/>
        </p:spPr>
        <p:txBody>
          <a:bodyPr wrap="square" lIns="18288" rIns="18288" tIns="18288" bIns="18288">
            <a:spAutoFit/>
          </a:bodyPr>
          <a:lstStyle/>
          <a:p>
            <a:pPr>
              <a:defRPr sz="1600" b="1">
                <a:solidFill>
                  <a:srgbClr val="081B38"/>
                </a:solidFill>
                <a:latin typeface="Aptos Display"/>
              </a:defRPr>
            </a:pPr>
            <a:r>
              <a:t>Poor tracking</a:t>
            </a:r>
          </a:p>
        </p:txBody>
      </p:sp>
      <p:sp>
        <p:nvSpPr>
          <p:cNvPr id="28" name="TextBox 27"/>
          <p:cNvSpPr txBox="1"/>
          <p:nvPr/>
        </p:nvSpPr>
        <p:spPr>
          <a:xfrm>
            <a:off x="4681728" y="4407408"/>
            <a:ext cx="3090672" cy="457200"/>
          </a:xfrm>
          <a:prstGeom prst="rect">
            <a:avLst/>
          </a:prstGeom>
          <a:noFill/>
        </p:spPr>
        <p:txBody>
          <a:bodyPr wrap="square" lIns="18288" rIns="18288" tIns="18288" bIns="18288">
            <a:spAutoFit/>
          </a:bodyPr>
          <a:lstStyle/>
          <a:p>
            <a:pPr>
              <a:defRPr sz="1200" b="0">
                <a:solidFill>
                  <a:srgbClr val="162D4C"/>
                </a:solidFill>
                <a:latin typeface="Aptos"/>
              </a:defRPr>
            </a:pPr>
            <a:r>
              <a:t>Customers must contact the seller for status updates.</a:t>
            </a:r>
          </a:p>
        </p:txBody>
      </p:sp>
      <p:sp>
        <p:nvSpPr>
          <p:cNvPr id="29" name="Rounded Rectangle 28"/>
          <p:cNvSpPr/>
          <p:nvPr/>
        </p:nvSpPr>
        <p:spPr>
          <a:xfrm>
            <a:off x="8275320" y="3840480"/>
            <a:ext cx="3474720" cy="114300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75320" y="3840480"/>
            <a:ext cx="73152" cy="1143000"/>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76488" y="3986784"/>
            <a:ext cx="3090672" cy="329184"/>
          </a:xfrm>
          <a:prstGeom prst="rect">
            <a:avLst/>
          </a:prstGeom>
          <a:noFill/>
        </p:spPr>
        <p:txBody>
          <a:bodyPr wrap="square" lIns="18288" rIns="18288" tIns="18288" bIns="18288">
            <a:spAutoFit/>
          </a:bodyPr>
          <a:lstStyle/>
          <a:p>
            <a:pPr>
              <a:defRPr sz="1600" b="1">
                <a:solidFill>
                  <a:srgbClr val="081B38"/>
                </a:solidFill>
                <a:latin typeface="Aptos Display"/>
              </a:defRPr>
            </a:pPr>
            <a:r>
              <a:t>Limited reporting</a:t>
            </a:r>
          </a:p>
        </p:txBody>
      </p:sp>
      <p:sp>
        <p:nvSpPr>
          <p:cNvPr id="32" name="TextBox 31"/>
          <p:cNvSpPr txBox="1"/>
          <p:nvPr/>
        </p:nvSpPr>
        <p:spPr>
          <a:xfrm>
            <a:off x="8476488" y="4407408"/>
            <a:ext cx="3090672" cy="457200"/>
          </a:xfrm>
          <a:prstGeom prst="rect">
            <a:avLst/>
          </a:prstGeom>
          <a:noFill/>
        </p:spPr>
        <p:txBody>
          <a:bodyPr wrap="square" lIns="18288" rIns="18288" tIns="18288" bIns="18288">
            <a:spAutoFit/>
          </a:bodyPr>
          <a:lstStyle/>
          <a:p>
            <a:pPr>
              <a:defRPr sz="1200" b="0">
                <a:solidFill>
                  <a:srgbClr val="162D4C"/>
                </a:solidFill>
                <a:latin typeface="Aptos"/>
              </a:defRPr>
            </a:pPr>
            <a:r>
              <a:t>Sales and stock summaries take time to prepare.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PROJECT OVERVIEW</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Proposed System &amp; Project Objectives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07</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85800" y="1554480"/>
            <a:ext cx="5257800" cy="35204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554480"/>
            <a:ext cx="73152" cy="352044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70078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Proposed solution</a:t>
            </a:r>
          </a:p>
        </p:txBody>
      </p:sp>
      <p:sp>
        <p:nvSpPr>
          <p:cNvPr id="11" name="TextBox 10"/>
          <p:cNvSpPr txBox="1"/>
          <p:nvPr/>
        </p:nvSpPr>
        <p:spPr>
          <a:xfrm>
            <a:off x="886968" y="2121408"/>
            <a:ext cx="4873752" cy="2834640"/>
          </a:xfrm>
          <a:prstGeom prst="rect">
            <a:avLst/>
          </a:prstGeom>
          <a:noFill/>
        </p:spPr>
        <p:txBody>
          <a:bodyPr wrap="square" lIns="45720" rIns="45720" tIns="36576" bIns="18288">
            <a:spAutoFit/>
          </a:bodyPr>
          <a:lstStyle/>
          <a:p>
            <a:pPr>
              <a:spcAft>
                <a:spcPts val="500"/>
              </a:spcAft>
              <a:defRPr sz="1500">
                <a:solidFill>
                  <a:srgbClr val="162D4C"/>
                </a:solidFill>
                <a:latin typeface="Aptos"/>
              </a:defRPr>
            </a:pPr>
            <a:r>
              <a:t>•  Central relational database</a:t>
            </a:r>
          </a:p>
          <a:p>
            <a:pPr>
              <a:spcAft>
                <a:spcPts val="500"/>
              </a:spcAft>
              <a:defRPr sz="1500">
                <a:solidFill>
                  <a:srgbClr val="162D4C"/>
                </a:solidFill>
                <a:latin typeface="Aptos"/>
              </a:defRPr>
            </a:pPr>
            <a:r>
              <a:t>•  Role-based web interface for customers and administrators</a:t>
            </a:r>
          </a:p>
          <a:p>
            <a:pPr>
              <a:spcAft>
                <a:spcPts val="500"/>
              </a:spcAft>
              <a:defRPr sz="1500">
                <a:solidFill>
                  <a:srgbClr val="162D4C"/>
                </a:solidFill>
                <a:latin typeface="Aptos"/>
              </a:defRPr>
            </a:pPr>
            <a:r>
              <a:t>•  Automated price, discount, GST and delivery calculations</a:t>
            </a:r>
          </a:p>
          <a:p>
            <a:pPr>
              <a:spcAft>
                <a:spcPts val="500"/>
              </a:spcAft>
              <a:defRPr sz="1500">
                <a:solidFill>
                  <a:srgbClr val="162D4C"/>
                </a:solidFill>
                <a:latin typeface="Aptos"/>
              </a:defRPr>
            </a:pPr>
            <a:r>
              <a:t>•  Stock validation and updates during order placement</a:t>
            </a:r>
          </a:p>
          <a:p>
            <a:pPr>
              <a:spcAft>
                <a:spcPts val="500"/>
              </a:spcAft>
              <a:defRPr sz="1500">
                <a:solidFill>
                  <a:srgbClr val="162D4C"/>
                </a:solidFill>
                <a:latin typeface="Aptos"/>
              </a:defRPr>
            </a:pPr>
            <a:r>
              <a:t>•  Order tracking and on-demand reports</a:t>
            </a:r>
          </a:p>
        </p:txBody>
      </p:sp>
      <p:sp>
        <p:nvSpPr>
          <p:cNvPr id="12" name="Rounded Rectangle 11"/>
          <p:cNvSpPr/>
          <p:nvPr/>
        </p:nvSpPr>
        <p:spPr>
          <a:xfrm>
            <a:off x="6172200" y="1554480"/>
            <a:ext cx="5257800" cy="352044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554480"/>
            <a:ext cx="73152" cy="352044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70078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Project objectives</a:t>
            </a:r>
          </a:p>
        </p:txBody>
      </p:sp>
      <p:sp>
        <p:nvSpPr>
          <p:cNvPr id="15" name="TextBox 14"/>
          <p:cNvSpPr txBox="1"/>
          <p:nvPr/>
        </p:nvSpPr>
        <p:spPr>
          <a:xfrm>
            <a:off x="6373368" y="2121408"/>
            <a:ext cx="4873752" cy="2834640"/>
          </a:xfrm>
          <a:prstGeom prst="rect">
            <a:avLst/>
          </a:prstGeom>
          <a:noFill/>
        </p:spPr>
        <p:txBody>
          <a:bodyPr wrap="square" lIns="45720" rIns="45720" tIns="36576" bIns="18288">
            <a:spAutoFit/>
          </a:bodyPr>
          <a:lstStyle/>
          <a:p>
            <a:pPr>
              <a:spcAft>
                <a:spcPts val="500"/>
              </a:spcAft>
              <a:defRPr sz="1500">
                <a:solidFill>
                  <a:srgbClr val="162D4C"/>
                </a:solidFill>
                <a:latin typeface="Aptos"/>
              </a:defRPr>
            </a:pPr>
            <a:r>
              <a:t>•  Maintain searchable product and category catalogues</a:t>
            </a:r>
          </a:p>
          <a:p>
            <a:pPr>
              <a:spcAft>
                <a:spcPts val="500"/>
              </a:spcAft>
              <a:defRPr sz="1500">
                <a:solidFill>
                  <a:srgbClr val="162D4C"/>
                </a:solidFill>
                <a:latin typeface="Aptos"/>
              </a:defRPr>
            </a:pPr>
            <a:r>
              <a:t>•  Support registration, login, search, filters and cart</a:t>
            </a:r>
          </a:p>
          <a:p>
            <a:pPr>
              <a:spcAft>
                <a:spcPts val="500"/>
              </a:spcAft>
              <a:defRPr sz="1500">
                <a:solidFill>
                  <a:srgbClr val="162D4C"/>
                </a:solidFill>
                <a:latin typeface="Aptos"/>
              </a:defRPr>
            </a:pPr>
            <a:r>
              <a:t>•  Provide checkout with address and payment-method selection</a:t>
            </a:r>
          </a:p>
          <a:p>
            <a:pPr>
              <a:spcAft>
                <a:spcPts val="500"/>
              </a:spcAft>
              <a:defRPr sz="1500">
                <a:solidFill>
                  <a:srgbClr val="162D4C"/>
                </a:solidFill>
                <a:latin typeface="Aptos"/>
              </a:defRPr>
            </a:pPr>
            <a:r>
              <a:t>•  Keep stock accurate and prevent overselling</a:t>
            </a:r>
          </a:p>
          <a:p>
            <a:pPr>
              <a:spcAft>
                <a:spcPts val="500"/>
              </a:spcAft>
              <a:defRPr sz="1500">
                <a:solidFill>
                  <a:srgbClr val="162D4C"/>
                </a:solidFill>
                <a:latin typeface="Aptos"/>
              </a:defRPr>
            </a:pPr>
            <a:r>
              <a:t>•  Protect access and generate sales, stock and order reports</a:t>
            </a:r>
          </a:p>
        </p:txBody>
      </p:sp>
      <p:sp>
        <p:nvSpPr>
          <p:cNvPr id="16" name="TextBox 15"/>
          <p:cNvSpPr txBox="1"/>
          <p:nvPr/>
        </p:nvSpPr>
        <p:spPr>
          <a:xfrm>
            <a:off x="822960" y="5440680"/>
            <a:ext cx="10515600" cy="457200"/>
          </a:xfrm>
          <a:prstGeom prst="rect">
            <a:avLst/>
          </a:prstGeom>
          <a:noFill/>
        </p:spPr>
        <p:txBody>
          <a:bodyPr wrap="square" lIns="18288" rIns="18288" tIns="18288" bIns="18288">
            <a:spAutoFit/>
          </a:bodyPr>
          <a:lstStyle/>
          <a:p>
            <a:pPr algn="ctr">
              <a:defRPr sz="1300" b="1">
                <a:solidFill>
                  <a:srgbClr val="4E6C91"/>
                </a:solidFill>
                <a:latin typeface="Aptos"/>
              </a:defRPr>
            </a:pPr>
            <a:r>
              <a:t>Scope: one online store; live payment gateway and courier integration are future enhancements.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SYSTEM ANALYSIS</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Users &amp; Functional Modules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08</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85800" y="1600200"/>
            <a:ext cx="5212080" cy="356616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73152" cy="356616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746504"/>
            <a:ext cx="4828032" cy="329184"/>
          </a:xfrm>
          <a:prstGeom prst="rect">
            <a:avLst/>
          </a:prstGeom>
          <a:noFill/>
        </p:spPr>
        <p:txBody>
          <a:bodyPr wrap="square" lIns="18288" rIns="18288" tIns="18288" bIns="18288">
            <a:spAutoFit/>
          </a:bodyPr>
          <a:lstStyle/>
          <a:p>
            <a:pPr>
              <a:defRPr sz="1600" b="1">
                <a:solidFill>
                  <a:srgbClr val="081B38"/>
                </a:solidFill>
                <a:latin typeface="Aptos Display"/>
              </a:defRPr>
            </a:pPr>
            <a:r>
              <a:t>Customer functions</a:t>
            </a:r>
          </a:p>
        </p:txBody>
      </p:sp>
      <p:sp>
        <p:nvSpPr>
          <p:cNvPr id="11" name="TextBox 10"/>
          <p:cNvSpPr txBox="1"/>
          <p:nvPr/>
        </p:nvSpPr>
        <p:spPr>
          <a:xfrm>
            <a:off x="886968" y="2167128"/>
            <a:ext cx="4828032" cy="2880360"/>
          </a:xfrm>
          <a:prstGeom prst="rect">
            <a:avLst/>
          </a:prstGeom>
          <a:noFill/>
        </p:spPr>
        <p:txBody>
          <a:bodyPr wrap="square" lIns="45720" rIns="45720" tIns="36576" bIns="18288">
            <a:spAutoFit/>
          </a:bodyPr>
          <a:lstStyle/>
          <a:p>
            <a:pPr>
              <a:spcAft>
                <a:spcPts val="500"/>
              </a:spcAft>
              <a:defRPr sz="1400">
                <a:solidFill>
                  <a:srgbClr val="162D4C"/>
                </a:solidFill>
                <a:latin typeface="Aptos"/>
              </a:defRPr>
            </a:pPr>
            <a:r>
              <a:t>•  Register, log in and log out</a:t>
            </a:r>
          </a:p>
          <a:p>
            <a:pPr>
              <a:spcAft>
                <a:spcPts val="500"/>
              </a:spcAft>
              <a:defRPr sz="1400">
                <a:solidFill>
                  <a:srgbClr val="162D4C"/>
                </a:solidFill>
                <a:latin typeface="Aptos"/>
              </a:defRPr>
            </a:pPr>
            <a:r>
              <a:t>•  Browse, search, filter and sort products</a:t>
            </a:r>
          </a:p>
          <a:p>
            <a:pPr>
              <a:spcAft>
                <a:spcPts val="500"/>
              </a:spcAft>
              <a:defRPr sz="1400">
                <a:solidFill>
                  <a:srgbClr val="162D4C"/>
                </a:solidFill>
                <a:latin typeface="Aptos"/>
              </a:defRPr>
            </a:pPr>
            <a:r>
              <a:t>•  Add items to cart and manage quantities</a:t>
            </a:r>
          </a:p>
          <a:p>
            <a:pPr>
              <a:spcAft>
                <a:spcPts val="500"/>
              </a:spcAft>
              <a:defRPr sz="1400">
                <a:solidFill>
                  <a:srgbClr val="162D4C"/>
                </a:solidFill>
                <a:latin typeface="Aptos"/>
              </a:defRPr>
            </a:pPr>
            <a:r>
              <a:t>•  Choose address and payment method</a:t>
            </a:r>
          </a:p>
          <a:p>
            <a:pPr>
              <a:spcAft>
                <a:spcPts val="500"/>
              </a:spcAft>
              <a:defRPr sz="1400">
                <a:solidFill>
                  <a:srgbClr val="162D4C"/>
                </a:solidFill>
                <a:latin typeface="Aptos"/>
              </a:defRPr>
            </a:pPr>
            <a:r>
              <a:t>•  View order history, track status and cancel before shipping</a:t>
            </a:r>
          </a:p>
        </p:txBody>
      </p:sp>
      <p:sp>
        <p:nvSpPr>
          <p:cNvPr id="12" name="Rounded Rectangle 11"/>
          <p:cNvSpPr/>
          <p:nvPr/>
        </p:nvSpPr>
        <p:spPr>
          <a:xfrm>
            <a:off x="6126480" y="1600200"/>
            <a:ext cx="5349240" cy="356616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600200"/>
            <a:ext cx="73152" cy="356616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746504"/>
            <a:ext cx="4965192" cy="329184"/>
          </a:xfrm>
          <a:prstGeom prst="rect">
            <a:avLst/>
          </a:prstGeom>
          <a:noFill/>
        </p:spPr>
        <p:txBody>
          <a:bodyPr wrap="square" lIns="18288" rIns="18288" tIns="18288" bIns="18288">
            <a:spAutoFit/>
          </a:bodyPr>
          <a:lstStyle/>
          <a:p>
            <a:pPr>
              <a:defRPr sz="1600" b="1">
                <a:solidFill>
                  <a:srgbClr val="081B38"/>
                </a:solidFill>
                <a:latin typeface="Aptos Display"/>
              </a:defRPr>
            </a:pPr>
            <a:r>
              <a:t>Administrator functions</a:t>
            </a:r>
          </a:p>
        </p:txBody>
      </p:sp>
      <p:sp>
        <p:nvSpPr>
          <p:cNvPr id="15" name="TextBox 14"/>
          <p:cNvSpPr txBox="1"/>
          <p:nvPr/>
        </p:nvSpPr>
        <p:spPr>
          <a:xfrm>
            <a:off x="6327648" y="2167128"/>
            <a:ext cx="4965192" cy="2880360"/>
          </a:xfrm>
          <a:prstGeom prst="rect">
            <a:avLst/>
          </a:prstGeom>
          <a:noFill/>
        </p:spPr>
        <p:txBody>
          <a:bodyPr wrap="square" lIns="45720" rIns="45720" tIns="36576" bIns="18288">
            <a:spAutoFit/>
          </a:bodyPr>
          <a:lstStyle/>
          <a:p>
            <a:pPr>
              <a:spcAft>
                <a:spcPts val="500"/>
              </a:spcAft>
              <a:defRPr sz="1400">
                <a:solidFill>
                  <a:srgbClr val="162D4C"/>
                </a:solidFill>
                <a:latin typeface="Aptos"/>
              </a:defRPr>
            </a:pPr>
            <a:r>
              <a:t>•  Manage categories, products, prices and stock</a:t>
            </a:r>
          </a:p>
          <a:p>
            <a:pPr>
              <a:spcAft>
                <a:spcPts val="500"/>
              </a:spcAft>
              <a:defRPr sz="1400">
                <a:solidFill>
                  <a:srgbClr val="162D4C"/>
                </a:solidFill>
                <a:latin typeface="Aptos"/>
              </a:defRPr>
            </a:pPr>
            <a:r>
              <a:t>•  View and process incoming orders</a:t>
            </a:r>
          </a:p>
          <a:p>
            <a:pPr>
              <a:spcAft>
                <a:spcPts val="500"/>
              </a:spcAft>
              <a:defRPr sz="1400">
                <a:solidFill>
                  <a:srgbClr val="162D4C"/>
                </a:solidFill>
                <a:latin typeface="Aptos"/>
              </a:defRPr>
            </a:pPr>
            <a:r>
              <a:t>•  Update order status and manage customers</a:t>
            </a:r>
          </a:p>
          <a:p>
            <a:pPr>
              <a:spcAft>
                <a:spcPts val="500"/>
              </a:spcAft>
              <a:defRPr sz="1400">
                <a:solidFill>
                  <a:srgbClr val="162D4C"/>
                </a:solidFill>
                <a:latin typeface="Aptos"/>
              </a:defRPr>
            </a:pPr>
            <a:r>
              <a:t>•  View sales, stock and order reports</a:t>
            </a:r>
          </a:p>
          <a:p>
            <a:pPr>
              <a:spcAft>
                <a:spcPts val="500"/>
              </a:spcAft>
              <a:defRPr sz="1400">
                <a:solidFill>
                  <a:srgbClr val="162D4C"/>
                </a:solidFill>
                <a:latin typeface="Aptos"/>
              </a:defRPr>
            </a:pPr>
            <a:r>
              <a:t>•  Use role-restricted dashboard and quick actions</a:t>
            </a:r>
          </a:p>
        </p:txBody>
      </p:sp>
      <p:sp>
        <p:nvSpPr>
          <p:cNvPr id="16" name="TextBox 15"/>
          <p:cNvSpPr txBox="1"/>
          <p:nvPr/>
        </p:nvSpPr>
        <p:spPr>
          <a:xfrm>
            <a:off x="868680" y="5532120"/>
            <a:ext cx="10241280" cy="365760"/>
          </a:xfrm>
          <a:prstGeom prst="rect">
            <a:avLst/>
          </a:prstGeom>
          <a:noFill/>
        </p:spPr>
        <p:txBody>
          <a:bodyPr wrap="square" lIns="18288" rIns="18288" tIns="18288" bIns="18288">
            <a:spAutoFit/>
          </a:bodyPr>
          <a:lstStyle/>
          <a:p>
            <a:pPr algn="ctr">
              <a:defRPr sz="1300" b="1">
                <a:solidFill>
                  <a:srgbClr val="0D305E"/>
                </a:solidFill>
                <a:latin typeface="Aptos"/>
              </a:defRPr>
            </a:pPr>
            <a:r>
              <a:t>Shared system responsibilities: authentication • validation • pricing • stock consistency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SYSTEM DESIGN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System Architecture</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09</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868680" y="2011680"/>
            <a:ext cx="1645920" cy="1828800"/>
          </a:xfrm>
          <a:prstGeom prst="roundRect">
            <a:avLst/>
          </a:prstGeom>
          <a:solidFill>
            <a:srgbClr val="E7F3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95728"/>
            <a:ext cx="1463040" cy="411480"/>
          </a:xfrm>
          <a:prstGeom prst="rect">
            <a:avLst/>
          </a:prstGeom>
          <a:noFill/>
        </p:spPr>
        <p:txBody>
          <a:bodyPr wrap="square" lIns="18288" rIns="18288" tIns="18288" bIns="18288">
            <a:spAutoFit/>
          </a:bodyPr>
          <a:lstStyle/>
          <a:p>
            <a:pPr algn="ctr">
              <a:defRPr sz="1200" b="1">
                <a:solidFill>
                  <a:srgbClr val="0D305E"/>
                </a:solidFill>
                <a:latin typeface="Aptos"/>
              </a:defRPr>
            </a:pPr>
            <a:r>
              <a:t>PRESENTATION</a:t>
            </a:r>
          </a:p>
        </p:txBody>
      </p:sp>
      <p:sp>
        <p:nvSpPr>
          <p:cNvPr id="10" name="TextBox 9"/>
          <p:cNvSpPr txBox="1"/>
          <p:nvPr/>
        </p:nvSpPr>
        <p:spPr>
          <a:xfrm>
            <a:off x="978407" y="2907792"/>
            <a:ext cx="1426464" cy="621792"/>
          </a:xfrm>
          <a:prstGeom prst="rect">
            <a:avLst/>
          </a:prstGeom>
          <a:noFill/>
        </p:spPr>
        <p:txBody>
          <a:bodyPr wrap="square" lIns="18288" rIns="18288" tIns="18288" bIns="18288">
            <a:spAutoFit/>
          </a:bodyPr>
          <a:lstStyle/>
          <a:p>
            <a:pPr algn="ctr">
              <a:defRPr sz="1100" b="0">
                <a:solidFill>
                  <a:srgbClr val="0D305E"/>
                </a:solidFill>
                <a:latin typeface="Aptos"/>
              </a:defRPr>
            </a:pPr>
            <a:r>
              <a:t>JSP • HTML • CSS</a:t>
            </a:r>
          </a:p>
        </p:txBody>
      </p:sp>
      <p:sp>
        <p:nvSpPr>
          <p:cNvPr id="11" name="Rounded Rectangle 10"/>
          <p:cNvSpPr/>
          <p:nvPr/>
        </p:nvSpPr>
        <p:spPr>
          <a:xfrm>
            <a:off x="2743200" y="2011680"/>
            <a:ext cx="1645920" cy="1828800"/>
          </a:xfrm>
          <a:prstGeom prst="roundRect">
            <a:avLst/>
          </a:prstGeom>
          <a:solidFill>
            <a:srgbClr val="D3E8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2395728"/>
            <a:ext cx="1463040" cy="411480"/>
          </a:xfrm>
          <a:prstGeom prst="rect">
            <a:avLst/>
          </a:prstGeom>
          <a:noFill/>
        </p:spPr>
        <p:txBody>
          <a:bodyPr wrap="square" lIns="18288" rIns="18288" tIns="18288" bIns="18288">
            <a:spAutoFit/>
          </a:bodyPr>
          <a:lstStyle/>
          <a:p>
            <a:pPr algn="ctr">
              <a:defRPr sz="1200" b="1">
                <a:solidFill>
                  <a:srgbClr val="0D305E"/>
                </a:solidFill>
                <a:latin typeface="Aptos"/>
              </a:defRPr>
            </a:pPr>
            <a:r>
              <a:t>CONTROLLERS</a:t>
            </a:r>
          </a:p>
        </p:txBody>
      </p:sp>
      <p:sp>
        <p:nvSpPr>
          <p:cNvPr id="13" name="TextBox 12"/>
          <p:cNvSpPr txBox="1"/>
          <p:nvPr/>
        </p:nvSpPr>
        <p:spPr>
          <a:xfrm>
            <a:off x="2852928" y="2907792"/>
            <a:ext cx="1426464" cy="621792"/>
          </a:xfrm>
          <a:prstGeom prst="rect">
            <a:avLst/>
          </a:prstGeom>
          <a:noFill/>
        </p:spPr>
        <p:txBody>
          <a:bodyPr wrap="square" lIns="18288" rIns="18288" tIns="18288" bIns="18288">
            <a:spAutoFit/>
          </a:bodyPr>
          <a:lstStyle/>
          <a:p>
            <a:pPr algn="ctr">
              <a:defRPr sz="1100" b="0">
                <a:solidFill>
                  <a:srgbClr val="0D305E"/>
                </a:solidFill>
                <a:latin typeface="Aptos"/>
              </a:defRPr>
            </a:pPr>
            <a:r>
              <a:t>Spring MVC • request validation</a:t>
            </a:r>
          </a:p>
        </p:txBody>
      </p:sp>
      <p:sp>
        <p:nvSpPr>
          <p:cNvPr id="14" name="Rounded Rectangle 13"/>
          <p:cNvSpPr/>
          <p:nvPr/>
        </p:nvSpPr>
        <p:spPr>
          <a:xfrm>
            <a:off x="4617720" y="2011680"/>
            <a:ext cx="1645920" cy="1828800"/>
          </a:xfrm>
          <a:prstGeom prst="roundRect">
            <a:avLst/>
          </a:prstGeom>
          <a:solidFill>
            <a:srgbClr val="B2D7FA"/>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59" y="2395728"/>
            <a:ext cx="1463040" cy="411480"/>
          </a:xfrm>
          <a:prstGeom prst="rect">
            <a:avLst/>
          </a:prstGeom>
          <a:noFill/>
        </p:spPr>
        <p:txBody>
          <a:bodyPr wrap="square" lIns="18288" rIns="18288" tIns="18288" bIns="18288">
            <a:spAutoFit/>
          </a:bodyPr>
          <a:lstStyle/>
          <a:p>
            <a:pPr algn="ctr">
              <a:defRPr sz="1200" b="1">
                <a:solidFill>
                  <a:srgbClr val="081B38"/>
                </a:solidFill>
                <a:latin typeface="Aptos"/>
              </a:defRPr>
            </a:pPr>
            <a:r>
              <a:t>SERVICE LAYER</a:t>
            </a:r>
          </a:p>
        </p:txBody>
      </p:sp>
      <p:sp>
        <p:nvSpPr>
          <p:cNvPr id="16" name="TextBox 15"/>
          <p:cNvSpPr txBox="1"/>
          <p:nvPr/>
        </p:nvSpPr>
        <p:spPr>
          <a:xfrm>
            <a:off x="4727448" y="2907792"/>
            <a:ext cx="1426464" cy="621792"/>
          </a:xfrm>
          <a:prstGeom prst="rect">
            <a:avLst/>
          </a:prstGeom>
          <a:noFill/>
        </p:spPr>
        <p:txBody>
          <a:bodyPr wrap="square" lIns="18288" rIns="18288" tIns="18288" bIns="18288">
            <a:spAutoFit/>
          </a:bodyPr>
          <a:lstStyle/>
          <a:p>
            <a:pPr algn="ctr">
              <a:defRPr sz="1100" b="0">
                <a:solidFill>
                  <a:srgbClr val="081B38"/>
                </a:solidFill>
                <a:latin typeface="Aptos"/>
              </a:defRPr>
            </a:pPr>
            <a:r>
              <a:t>Business rules • pricing • order processing</a:t>
            </a:r>
          </a:p>
        </p:txBody>
      </p:sp>
      <p:sp>
        <p:nvSpPr>
          <p:cNvPr id="17" name="Rounded Rectangle 16"/>
          <p:cNvSpPr/>
          <p:nvPr/>
        </p:nvSpPr>
        <p:spPr>
          <a:xfrm>
            <a:off x="6492240" y="2011680"/>
            <a:ext cx="1645920" cy="1828800"/>
          </a:xfrm>
          <a:prstGeom prst="roundRect">
            <a:avLst/>
          </a:prstGeom>
          <a:solidFill>
            <a:srgbClr val="73B8F5"/>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79" y="2395728"/>
            <a:ext cx="1463040" cy="411480"/>
          </a:xfrm>
          <a:prstGeom prst="rect">
            <a:avLst/>
          </a:prstGeom>
          <a:noFill/>
        </p:spPr>
        <p:txBody>
          <a:bodyPr wrap="square" lIns="18288" rIns="18288" tIns="18288" bIns="18288">
            <a:spAutoFit/>
          </a:bodyPr>
          <a:lstStyle/>
          <a:p>
            <a:pPr algn="ctr">
              <a:defRPr sz="1200" b="1">
                <a:solidFill>
                  <a:srgbClr val="081B38"/>
                </a:solidFill>
                <a:latin typeface="Aptos"/>
              </a:defRPr>
            </a:pPr>
            <a:r>
              <a:t>DATA ACCESS</a:t>
            </a:r>
          </a:p>
        </p:txBody>
      </p:sp>
      <p:sp>
        <p:nvSpPr>
          <p:cNvPr id="19" name="TextBox 18"/>
          <p:cNvSpPr txBox="1"/>
          <p:nvPr/>
        </p:nvSpPr>
        <p:spPr>
          <a:xfrm>
            <a:off x="6601968" y="2907792"/>
            <a:ext cx="1426464" cy="621792"/>
          </a:xfrm>
          <a:prstGeom prst="rect">
            <a:avLst/>
          </a:prstGeom>
          <a:noFill/>
        </p:spPr>
        <p:txBody>
          <a:bodyPr wrap="square" lIns="18288" rIns="18288" tIns="18288" bIns="18288">
            <a:spAutoFit/>
          </a:bodyPr>
          <a:lstStyle/>
          <a:p>
            <a:pPr algn="ctr">
              <a:defRPr sz="1100" b="0">
                <a:solidFill>
                  <a:srgbClr val="081B38"/>
                </a:solidFill>
                <a:latin typeface="Aptos"/>
              </a:defRPr>
            </a:pPr>
            <a:r>
              <a:t>Hibernate • JPA</a:t>
            </a:r>
          </a:p>
        </p:txBody>
      </p:sp>
      <p:sp>
        <p:nvSpPr>
          <p:cNvPr id="20" name="Rounded Rectangle 19"/>
          <p:cNvSpPr/>
          <p:nvPr/>
        </p:nvSpPr>
        <p:spPr>
          <a:xfrm>
            <a:off x="8366760" y="2011680"/>
            <a:ext cx="1645920" cy="1828800"/>
          </a:xfrm>
          <a:prstGeom prst="roundRect">
            <a:avLst/>
          </a:prstGeom>
          <a:solidFill>
            <a:srgbClr val="0D305E"/>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395728"/>
            <a:ext cx="1463040" cy="411480"/>
          </a:xfrm>
          <a:prstGeom prst="rect">
            <a:avLst/>
          </a:prstGeom>
          <a:noFill/>
        </p:spPr>
        <p:txBody>
          <a:bodyPr wrap="square" lIns="18288" rIns="18288" tIns="18288" bIns="18288">
            <a:spAutoFit/>
          </a:bodyPr>
          <a:lstStyle/>
          <a:p>
            <a:pPr algn="ctr">
              <a:defRPr sz="1200" b="1">
                <a:solidFill>
                  <a:srgbClr val="FFFFFF"/>
                </a:solidFill>
                <a:latin typeface="Aptos"/>
              </a:defRPr>
            </a:pPr>
            <a:r>
              <a:t>DATABASE</a:t>
            </a:r>
          </a:p>
        </p:txBody>
      </p:sp>
      <p:sp>
        <p:nvSpPr>
          <p:cNvPr id="22" name="TextBox 21"/>
          <p:cNvSpPr txBox="1"/>
          <p:nvPr/>
        </p:nvSpPr>
        <p:spPr>
          <a:xfrm>
            <a:off x="8476488" y="2907792"/>
            <a:ext cx="1426464" cy="621792"/>
          </a:xfrm>
          <a:prstGeom prst="rect">
            <a:avLst/>
          </a:prstGeom>
          <a:noFill/>
        </p:spPr>
        <p:txBody>
          <a:bodyPr wrap="square" lIns="18288" rIns="18288" tIns="18288" bIns="18288">
            <a:spAutoFit/>
          </a:bodyPr>
          <a:lstStyle/>
          <a:p>
            <a:pPr algn="ctr">
              <a:defRPr sz="1100" b="0">
                <a:solidFill>
                  <a:srgbClr val="FFFFFF"/>
                </a:solidFill>
                <a:latin typeface="Aptos"/>
              </a:defRPr>
            </a:pPr>
            <a:r>
              <a:t>MySQL</a:t>
            </a:r>
          </a:p>
        </p:txBody>
      </p:sp>
      <p:sp>
        <p:nvSpPr>
          <p:cNvPr id="23" name="TextBox 22"/>
          <p:cNvSpPr txBox="1"/>
          <p:nvPr/>
        </p:nvSpPr>
        <p:spPr>
          <a:xfrm>
            <a:off x="2532888" y="2670048"/>
            <a:ext cx="201168" cy="320040"/>
          </a:xfrm>
          <a:prstGeom prst="rect">
            <a:avLst/>
          </a:prstGeom>
          <a:noFill/>
        </p:spPr>
        <p:txBody>
          <a:bodyPr wrap="square" lIns="18288" rIns="18288" tIns="18288" bIns="18288">
            <a:spAutoFit/>
          </a:bodyPr>
          <a:lstStyle/>
          <a:p>
            <a:pPr algn="ctr">
              <a:defRPr sz="2400" b="1">
                <a:solidFill>
                  <a:srgbClr val="235CB4"/>
                </a:solidFill>
                <a:latin typeface="Aptos"/>
              </a:defRPr>
            </a:pPr>
            <a:r>
              <a:t>›</a:t>
            </a:r>
          </a:p>
        </p:txBody>
      </p:sp>
      <p:sp>
        <p:nvSpPr>
          <p:cNvPr id="24" name="TextBox 23"/>
          <p:cNvSpPr txBox="1"/>
          <p:nvPr/>
        </p:nvSpPr>
        <p:spPr>
          <a:xfrm>
            <a:off x="4407408" y="2670048"/>
            <a:ext cx="201168" cy="320040"/>
          </a:xfrm>
          <a:prstGeom prst="rect">
            <a:avLst/>
          </a:prstGeom>
          <a:noFill/>
        </p:spPr>
        <p:txBody>
          <a:bodyPr wrap="square" lIns="18288" rIns="18288" tIns="18288" bIns="18288">
            <a:spAutoFit/>
          </a:bodyPr>
          <a:lstStyle/>
          <a:p>
            <a:pPr algn="ctr">
              <a:defRPr sz="2400" b="1">
                <a:solidFill>
                  <a:srgbClr val="235CB4"/>
                </a:solidFill>
                <a:latin typeface="Aptos"/>
              </a:defRPr>
            </a:pPr>
            <a:r>
              <a:t>›</a:t>
            </a:r>
          </a:p>
        </p:txBody>
      </p:sp>
      <p:sp>
        <p:nvSpPr>
          <p:cNvPr id="25" name="TextBox 24"/>
          <p:cNvSpPr txBox="1"/>
          <p:nvPr/>
        </p:nvSpPr>
        <p:spPr>
          <a:xfrm>
            <a:off x="6281928" y="2670048"/>
            <a:ext cx="201168" cy="320040"/>
          </a:xfrm>
          <a:prstGeom prst="rect">
            <a:avLst/>
          </a:prstGeom>
          <a:noFill/>
        </p:spPr>
        <p:txBody>
          <a:bodyPr wrap="square" lIns="18288" rIns="18288" tIns="18288" bIns="18288">
            <a:spAutoFit/>
          </a:bodyPr>
          <a:lstStyle/>
          <a:p>
            <a:pPr algn="ctr">
              <a:defRPr sz="2400" b="1">
                <a:solidFill>
                  <a:srgbClr val="235CB4"/>
                </a:solidFill>
                <a:latin typeface="Aptos"/>
              </a:defRPr>
            </a:pPr>
            <a:r>
              <a:t>›</a:t>
            </a:r>
          </a:p>
        </p:txBody>
      </p:sp>
      <p:sp>
        <p:nvSpPr>
          <p:cNvPr id="26" name="TextBox 25"/>
          <p:cNvSpPr txBox="1"/>
          <p:nvPr/>
        </p:nvSpPr>
        <p:spPr>
          <a:xfrm>
            <a:off x="8156448" y="2670048"/>
            <a:ext cx="201168" cy="320040"/>
          </a:xfrm>
          <a:prstGeom prst="rect">
            <a:avLst/>
          </a:prstGeom>
          <a:noFill/>
        </p:spPr>
        <p:txBody>
          <a:bodyPr wrap="square" lIns="18288" rIns="18288" tIns="18288" bIns="18288">
            <a:spAutoFit/>
          </a:bodyPr>
          <a:lstStyle/>
          <a:p>
            <a:pPr algn="ctr">
              <a:defRPr sz="2400" b="1">
                <a:solidFill>
                  <a:srgbClr val="235CB4"/>
                </a:solidFill>
                <a:latin typeface="Aptos"/>
              </a:defRPr>
            </a:pPr>
            <a:r>
              <a:t>›</a:t>
            </a:r>
          </a:p>
        </p:txBody>
      </p:sp>
      <p:sp>
        <p:nvSpPr>
          <p:cNvPr id="27" name="Rounded Rectangle 26"/>
          <p:cNvSpPr/>
          <p:nvPr/>
        </p:nvSpPr>
        <p:spPr>
          <a:xfrm>
            <a:off x="3063240" y="4434840"/>
            <a:ext cx="5943600" cy="658368"/>
          </a:xfrm>
          <a:prstGeom prst="roundRect">
            <a:avLst/>
          </a:prstGeom>
          <a:solidFill>
            <a:srgbClr val="E7F3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4608576"/>
            <a:ext cx="5577840" cy="228600"/>
          </a:xfrm>
          <a:prstGeom prst="rect">
            <a:avLst/>
          </a:prstGeom>
          <a:noFill/>
        </p:spPr>
        <p:txBody>
          <a:bodyPr wrap="square" lIns="18288" rIns="18288" tIns="18288" bIns="18288">
            <a:spAutoFit/>
          </a:bodyPr>
          <a:lstStyle/>
          <a:p>
            <a:pPr algn="ctr">
              <a:defRPr sz="1400" b="1">
                <a:solidFill>
                  <a:srgbClr val="0D305E"/>
                </a:solidFill>
                <a:latin typeface="Aptos"/>
              </a:defRPr>
            </a:pPr>
            <a:r>
              <a:t>SPRING SECURITY  •  Authentication and role-based authorisation</a:t>
            </a:r>
          </a:p>
        </p:txBody>
      </p:sp>
      <p:sp>
        <p:nvSpPr>
          <p:cNvPr id="29" name="TextBox 28"/>
          <p:cNvSpPr txBox="1"/>
          <p:nvPr/>
        </p:nvSpPr>
        <p:spPr>
          <a:xfrm>
            <a:off x="1097280" y="5486400"/>
            <a:ext cx="9966960" cy="438912"/>
          </a:xfrm>
          <a:prstGeom prst="rect">
            <a:avLst/>
          </a:prstGeom>
          <a:noFill/>
        </p:spPr>
        <p:txBody>
          <a:bodyPr wrap="square" lIns="18288" rIns="18288" tIns="18288" bIns="18288">
            <a:spAutoFit/>
          </a:bodyPr>
          <a:lstStyle/>
          <a:p>
            <a:pPr algn="ctr">
              <a:defRPr sz="1500" b="0">
                <a:solidFill>
                  <a:srgbClr val="526985"/>
                </a:solidFill>
                <a:latin typeface="Aptos"/>
              </a:defRPr>
            </a:pPr>
            <a:r>
              <a:t>Layering separates the interface, request handling, business rules and database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SYSTEM DESIGN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Database Design &amp; Main Entities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10</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85800" y="160020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2331720" cy="310896"/>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655064"/>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USERS</a:t>
            </a:r>
          </a:p>
        </p:txBody>
      </p:sp>
      <p:sp>
        <p:nvSpPr>
          <p:cNvPr id="11" name="TextBox 10"/>
          <p:cNvSpPr txBox="1"/>
          <p:nvPr/>
        </p:nvSpPr>
        <p:spPr>
          <a:xfrm>
            <a:off x="795528" y="205740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user_id • name • email • role</a:t>
            </a:r>
          </a:p>
        </p:txBody>
      </p:sp>
      <p:sp>
        <p:nvSpPr>
          <p:cNvPr id="12" name="Rounded Rectangle 11"/>
          <p:cNvSpPr/>
          <p:nvPr/>
        </p:nvSpPr>
        <p:spPr>
          <a:xfrm>
            <a:off x="3520440" y="160020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0440" y="1600200"/>
            <a:ext cx="2331720" cy="310896"/>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655064"/>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CATEGORY</a:t>
            </a:r>
          </a:p>
        </p:txBody>
      </p:sp>
      <p:sp>
        <p:nvSpPr>
          <p:cNvPr id="15" name="TextBox 14"/>
          <p:cNvSpPr txBox="1"/>
          <p:nvPr/>
        </p:nvSpPr>
        <p:spPr>
          <a:xfrm>
            <a:off x="3630168" y="205740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category_id • name • description</a:t>
            </a:r>
          </a:p>
        </p:txBody>
      </p:sp>
      <p:sp>
        <p:nvSpPr>
          <p:cNvPr id="16" name="Rounded Rectangle 15"/>
          <p:cNvSpPr/>
          <p:nvPr/>
        </p:nvSpPr>
        <p:spPr>
          <a:xfrm>
            <a:off x="6355080" y="160020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1600200"/>
            <a:ext cx="2331720" cy="310896"/>
          </a:xfrm>
          <a:prstGeom prst="rect">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1655064"/>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PRODUCT</a:t>
            </a:r>
          </a:p>
        </p:txBody>
      </p:sp>
      <p:sp>
        <p:nvSpPr>
          <p:cNvPr id="19" name="TextBox 18"/>
          <p:cNvSpPr txBox="1"/>
          <p:nvPr/>
        </p:nvSpPr>
        <p:spPr>
          <a:xfrm>
            <a:off x="6464808" y="205740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product_id • category_id • price • stock</a:t>
            </a:r>
          </a:p>
        </p:txBody>
      </p:sp>
      <p:sp>
        <p:nvSpPr>
          <p:cNvPr id="20" name="Rounded Rectangle 19"/>
          <p:cNvSpPr/>
          <p:nvPr/>
        </p:nvSpPr>
        <p:spPr>
          <a:xfrm>
            <a:off x="9189720" y="160020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20" y="1600200"/>
            <a:ext cx="2331720" cy="310896"/>
          </a:xfrm>
          <a:prstGeom prst="rect">
            <a:avLst/>
          </a:prstGeom>
          <a:solidFill>
            <a:srgbClr val="4E6C91"/>
          </a:solidFill>
          <a:ln>
            <a:solidFill>
              <a:srgbClr val="4E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2872" y="1655064"/>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ADDRESS</a:t>
            </a:r>
          </a:p>
        </p:txBody>
      </p:sp>
      <p:sp>
        <p:nvSpPr>
          <p:cNvPr id="23" name="TextBox 22"/>
          <p:cNvSpPr txBox="1"/>
          <p:nvPr/>
        </p:nvSpPr>
        <p:spPr>
          <a:xfrm>
            <a:off x="9299448" y="205740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address_id • user_id • city • pincode</a:t>
            </a:r>
          </a:p>
        </p:txBody>
      </p:sp>
      <p:sp>
        <p:nvSpPr>
          <p:cNvPr id="24" name="Rounded Rectangle 23"/>
          <p:cNvSpPr/>
          <p:nvPr/>
        </p:nvSpPr>
        <p:spPr>
          <a:xfrm>
            <a:off x="685800" y="370332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3703320"/>
            <a:ext cx="2331720" cy="310896"/>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758183"/>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ORDERS</a:t>
            </a:r>
          </a:p>
        </p:txBody>
      </p:sp>
      <p:sp>
        <p:nvSpPr>
          <p:cNvPr id="27" name="TextBox 26"/>
          <p:cNvSpPr txBox="1"/>
          <p:nvPr/>
        </p:nvSpPr>
        <p:spPr>
          <a:xfrm>
            <a:off x="795528" y="416052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order_id • user_id • address_id • total • status</a:t>
            </a:r>
          </a:p>
        </p:txBody>
      </p:sp>
      <p:sp>
        <p:nvSpPr>
          <p:cNvPr id="28" name="Rounded Rectangle 27"/>
          <p:cNvSpPr/>
          <p:nvPr/>
        </p:nvSpPr>
        <p:spPr>
          <a:xfrm>
            <a:off x="3520440" y="370332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20440" y="3703320"/>
            <a:ext cx="2331720" cy="310896"/>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93592" y="3758183"/>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ORDER_ITEM</a:t>
            </a:r>
          </a:p>
        </p:txBody>
      </p:sp>
      <p:sp>
        <p:nvSpPr>
          <p:cNvPr id="31" name="TextBox 30"/>
          <p:cNvSpPr txBox="1"/>
          <p:nvPr/>
        </p:nvSpPr>
        <p:spPr>
          <a:xfrm>
            <a:off x="3630168" y="416052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item_id • order_id • product_id • quantity</a:t>
            </a:r>
          </a:p>
        </p:txBody>
      </p:sp>
      <p:sp>
        <p:nvSpPr>
          <p:cNvPr id="32" name="Rounded Rectangle 31"/>
          <p:cNvSpPr/>
          <p:nvPr/>
        </p:nvSpPr>
        <p:spPr>
          <a:xfrm>
            <a:off x="6355080" y="370332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55080" y="3703320"/>
            <a:ext cx="2331720" cy="310896"/>
          </a:xfrm>
          <a:prstGeom prst="rect">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3758183"/>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PAYMENT</a:t>
            </a:r>
          </a:p>
        </p:txBody>
      </p:sp>
      <p:sp>
        <p:nvSpPr>
          <p:cNvPr id="35" name="TextBox 34"/>
          <p:cNvSpPr txBox="1"/>
          <p:nvPr/>
        </p:nvSpPr>
        <p:spPr>
          <a:xfrm>
            <a:off x="6464808" y="416052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payment_id • order_id • method • amount</a:t>
            </a:r>
          </a:p>
        </p:txBody>
      </p:sp>
      <p:sp>
        <p:nvSpPr>
          <p:cNvPr id="36" name="Rounded Rectangle 35"/>
          <p:cNvSpPr/>
          <p:nvPr/>
        </p:nvSpPr>
        <p:spPr>
          <a:xfrm>
            <a:off x="9189720" y="3703320"/>
            <a:ext cx="23317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89720" y="3703320"/>
            <a:ext cx="2331720" cy="310896"/>
          </a:xfrm>
          <a:prstGeom prst="rect">
            <a:avLst/>
          </a:prstGeom>
          <a:solidFill>
            <a:srgbClr val="4E6C91"/>
          </a:solidFill>
          <a:ln>
            <a:solidFill>
              <a:srgbClr val="4E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62872" y="3758183"/>
            <a:ext cx="2176272" cy="201168"/>
          </a:xfrm>
          <a:prstGeom prst="rect">
            <a:avLst/>
          </a:prstGeom>
          <a:noFill/>
        </p:spPr>
        <p:txBody>
          <a:bodyPr wrap="square" lIns="18288" rIns="18288" tIns="18288" bIns="18288">
            <a:spAutoFit/>
          </a:bodyPr>
          <a:lstStyle/>
          <a:p>
            <a:pPr algn="ctr">
              <a:defRPr sz="1100" b="1">
                <a:solidFill>
                  <a:srgbClr val="FFFFFF"/>
                </a:solidFill>
                <a:latin typeface="Aptos"/>
              </a:defRPr>
            </a:pPr>
            <a:r>
              <a:t>CART_ITEM</a:t>
            </a:r>
          </a:p>
        </p:txBody>
      </p:sp>
      <p:sp>
        <p:nvSpPr>
          <p:cNvPr id="39" name="TextBox 38"/>
          <p:cNvSpPr txBox="1"/>
          <p:nvPr/>
        </p:nvSpPr>
        <p:spPr>
          <a:xfrm>
            <a:off x="9299448" y="4160520"/>
            <a:ext cx="2112264" cy="658368"/>
          </a:xfrm>
          <a:prstGeom prst="rect">
            <a:avLst/>
          </a:prstGeom>
          <a:noFill/>
        </p:spPr>
        <p:txBody>
          <a:bodyPr wrap="square" lIns="18288" rIns="18288" tIns="18288" bIns="18288">
            <a:spAutoFit/>
          </a:bodyPr>
          <a:lstStyle/>
          <a:p>
            <a:pPr algn="ctr">
              <a:defRPr sz="1000" b="0">
                <a:solidFill>
                  <a:srgbClr val="162D4C"/>
                </a:solidFill>
                <a:latin typeface="Aptos"/>
              </a:defRPr>
            </a:pPr>
            <a:r>
              <a:t>cart_id • user_id • product_id • quantity</a:t>
            </a:r>
          </a:p>
        </p:txBody>
      </p:sp>
      <p:sp>
        <p:nvSpPr>
          <p:cNvPr id="40" name="TextBox 39"/>
          <p:cNvSpPr txBox="1"/>
          <p:nvPr/>
        </p:nvSpPr>
        <p:spPr>
          <a:xfrm>
            <a:off x="914400" y="5486400"/>
            <a:ext cx="10241280" cy="411480"/>
          </a:xfrm>
          <a:prstGeom prst="rect">
            <a:avLst/>
          </a:prstGeom>
          <a:noFill/>
        </p:spPr>
        <p:txBody>
          <a:bodyPr wrap="square" lIns="18288" rIns="18288" tIns="18288" bIns="18288">
            <a:spAutoFit/>
          </a:bodyPr>
          <a:lstStyle/>
          <a:p>
            <a:pPr algn="ctr">
              <a:defRPr sz="1400" b="1">
                <a:solidFill>
                  <a:srgbClr val="0D305E"/>
                </a:solidFill>
                <a:latin typeface="Aptos"/>
              </a:defRPr>
            </a:pPr>
            <a:r>
              <a:t>Primary keys identify records; foreign keys maintain relationships and referential integrity.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SYSTEM DESIGN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Checkout, Payment &amp; Order Placement Flow</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11</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594360" y="2240280"/>
            <a:ext cx="1600200" cy="1508760"/>
          </a:xfrm>
          <a:prstGeom prst="roundRect">
            <a:avLst/>
          </a:prstGeom>
          <a:solidFill>
            <a:srgbClr val="E7F3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61288" y="1938528"/>
            <a:ext cx="457200" cy="45720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029968"/>
            <a:ext cx="457200" cy="164592"/>
          </a:xfrm>
          <a:prstGeom prst="rect">
            <a:avLst/>
          </a:prstGeom>
          <a:noFill/>
        </p:spPr>
        <p:txBody>
          <a:bodyPr wrap="square" lIns="18288" rIns="18288" tIns="18288" bIns="18288">
            <a:spAutoFit/>
          </a:bodyPr>
          <a:lstStyle/>
          <a:p>
            <a:pPr algn="ctr">
              <a:defRPr sz="1100" b="1">
                <a:solidFill>
                  <a:srgbClr val="FFFFFF"/>
                </a:solidFill>
                <a:latin typeface="Aptos"/>
              </a:defRPr>
            </a:pPr>
            <a:r>
              <a:t>1</a:t>
            </a:r>
          </a:p>
        </p:txBody>
      </p:sp>
      <p:sp>
        <p:nvSpPr>
          <p:cNvPr id="11" name="TextBox 10"/>
          <p:cNvSpPr txBox="1"/>
          <p:nvPr/>
        </p:nvSpPr>
        <p:spPr>
          <a:xfrm>
            <a:off x="704088" y="2670048"/>
            <a:ext cx="1371600" cy="658368"/>
          </a:xfrm>
          <a:prstGeom prst="rect">
            <a:avLst/>
          </a:prstGeom>
          <a:noFill/>
        </p:spPr>
        <p:txBody>
          <a:bodyPr wrap="square" lIns="18288" rIns="18288" tIns="18288" bIns="18288">
            <a:spAutoFit/>
          </a:bodyPr>
          <a:lstStyle/>
          <a:p>
            <a:pPr algn="ctr">
              <a:defRPr sz="1300" b="1">
                <a:solidFill>
                  <a:srgbClr val="0D305E"/>
                </a:solidFill>
                <a:latin typeface="Aptos"/>
              </a:defRPr>
            </a:pPr>
            <a:r>
              <a:t>Add products</a:t>
            </a:r>
            <a:br/>
            <a:r>
              <a:t>to cart</a:t>
            </a:r>
          </a:p>
        </p:txBody>
      </p:sp>
      <p:sp>
        <p:nvSpPr>
          <p:cNvPr id="12" name="TextBox 11"/>
          <p:cNvSpPr txBox="1"/>
          <p:nvPr/>
        </p:nvSpPr>
        <p:spPr>
          <a:xfrm>
            <a:off x="2221992" y="2743200"/>
            <a:ext cx="256032" cy="320040"/>
          </a:xfrm>
          <a:prstGeom prst="rect">
            <a:avLst/>
          </a:prstGeom>
          <a:noFill/>
        </p:spPr>
        <p:txBody>
          <a:bodyPr wrap="square" lIns="18288" rIns="18288" tIns="18288" bIns="18288">
            <a:spAutoFit/>
          </a:bodyPr>
          <a:lstStyle/>
          <a:p>
            <a:pPr algn="ctr">
              <a:defRPr sz="2300" b="1">
                <a:solidFill>
                  <a:srgbClr val="377ED6"/>
                </a:solidFill>
                <a:latin typeface="Aptos"/>
              </a:defRPr>
            </a:pPr>
            <a:r>
              <a:t>›</a:t>
            </a:r>
          </a:p>
        </p:txBody>
      </p:sp>
      <p:sp>
        <p:nvSpPr>
          <p:cNvPr id="13" name="Rounded Rectangle 12"/>
          <p:cNvSpPr/>
          <p:nvPr/>
        </p:nvSpPr>
        <p:spPr>
          <a:xfrm>
            <a:off x="2532888" y="2240280"/>
            <a:ext cx="1600200" cy="1508760"/>
          </a:xfrm>
          <a:prstGeom prst="roundRect">
            <a:avLst/>
          </a:prstGeom>
          <a:solidFill>
            <a:srgbClr val="E7F3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99816" y="1938528"/>
            <a:ext cx="457200" cy="45720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99816" y="2029968"/>
            <a:ext cx="457200" cy="164592"/>
          </a:xfrm>
          <a:prstGeom prst="rect">
            <a:avLst/>
          </a:prstGeom>
          <a:noFill/>
        </p:spPr>
        <p:txBody>
          <a:bodyPr wrap="square" lIns="18288" rIns="18288" tIns="18288" bIns="18288">
            <a:spAutoFit/>
          </a:bodyPr>
          <a:lstStyle/>
          <a:p>
            <a:pPr algn="ctr">
              <a:defRPr sz="1100" b="1">
                <a:solidFill>
                  <a:srgbClr val="FFFFFF"/>
                </a:solidFill>
                <a:latin typeface="Aptos"/>
              </a:defRPr>
            </a:pPr>
            <a:r>
              <a:t>2</a:t>
            </a:r>
          </a:p>
        </p:txBody>
      </p:sp>
      <p:sp>
        <p:nvSpPr>
          <p:cNvPr id="16" name="TextBox 15"/>
          <p:cNvSpPr txBox="1"/>
          <p:nvPr/>
        </p:nvSpPr>
        <p:spPr>
          <a:xfrm>
            <a:off x="2642616" y="2670048"/>
            <a:ext cx="1371600" cy="658368"/>
          </a:xfrm>
          <a:prstGeom prst="rect">
            <a:avLst/>
          </a:prstGeom>
          <a:noFill/>
        </p:spPr>
        <p:txBody>
          <a:bodyPr wrap="square" lIns="18288" rIns="18288" tIns="18288" bIns="18288">
            <a:spAutoFit/>
          </a:bodyPr>
          <a:lstStyle/>
          <a:p>
            <a:pPr algn="ctr">
              <a:defRPr sz="1300" b="1">
                <a:solidFill>
                  <a:srgbClr val="0D305E"/>
                </a:solidFill>
                <a:latin typeface="Aptos"/>
              </a:defRPr>
            </a:pPr>
            <a:r>
              <a:t>Proceed to</a:t>
            </a:r>
            <a:br/>
            <a:r>
              <a:t>checkout</a:t>
            </a:r>
          </a:p>
        </p:txBody>
      </p:sp>
      <p:sp>
        <p:nvSpPr>
          <p:cNvPr id="17" name="TextBox 16"/>
          <p:cNvSpPr txBox="1"/>
          <p:nvPr/>
        </p:nvSpPr>
        <p:spPr>
          <a:xfrm>
            <a:off x="4160520" y="2743200"/>
            <a:ext cx="256032" cy="320040"/>
          </a:xfrm>
          <a:prstGeom prst="rect">
            <a:avLst/>
          </a:prstGeom>
          <a:noFill/>
        </p:spPr>
        <p:txBody>
          <a:bodyPr wrap="square" lIns="18288" rIns="18288" tIns="18288" bIns="18288">
            <a:spAutoFit/>
          </a:bodyPr>
          <a:lstStyle/>
          <a:p>
            <a:pPr algn="ctr">
              <a:defRPr sz="2300" b="1">
                <a:solidFill>
                  <a:srgbClr val="377ED6"/>
                </a:solidFill>
                <a:latin typeface="Aptos"/>
              </a:defRPr>
            </a:pPr>
            <a:r>
              <a:t>›</a:t>
            </a:r>
          </a:p>
        </p:txBody>
      </p:sp>
      <p:sp>
        <p:nvSpPr>
          <p:cNvPr id="18" name="Rounded Rectangle 17"/>
          <p:cNvSpPr/>
          <p:nvPr/>
        </p:nvSpPr>
        <p:spPr>
          <a:xfrm>
            <a:off x="4471416" y="2240280"/>
            <a:ext cx="1600200" cy="1508760"/>
          </a:xfrm>
          <a:prstGeom prst="roundRect">
            <a:avLst/>
          </a:prstGeom>
          <a:solidFill>
            <a:srgbClr val="D3E8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038344" y="1938528"/>
            <a:ext cx="457200" cy="45720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8344" y="2029968"/>
            <a:ext cx="457200" cy="164592"/>
          </a:xfrm>
          <a:prstGeom prst="rect">
            <a:avLst/>
          </a:prstGeom>
          <a:noFill/>
        </p:spPr>
        <p:txBody>
          <a:bodyPr wrap="square" lIns="18288" rIns="18288" tIns="18288" bIns="18288">
            <a:spAutoFit/>
          </a:bodyPr>
          <a:lstStyle/>
          <a:p>
            <a:pPr algn="ctr">
              <a:defRPr sz="1100" b="1">
                <a:solidFill>
                  <a:srgbClr val="FFFFFF"/>
                </a:solidFill>
                <a:latin typeface="Aptos"/>
              </a:defRPr>
            </a:pPr>
            <a:r>
              <a:t>3</a:t>
            </a:r>
          </a:p>
        </p:txBody>
      </p:sp>
      <p:sp>
        <p:nvSpPr>
          <p:cNvPr id="21" name="TextBox 20"/>
          <p:cNvSpPr txBox="1"/>
          <p:nvPr/>
        </p:nvSpPr>
        <p:spPr>
          <a:xfrm>
            <a:off x="4581144" y="2670048"/>
            <a:ext cx="1371600" cy="658368"/>
          </a:xfrm>
          <a:prstGeom prst="rect">
            <a:avLst/>
          </a:prstGeom>
          <a:noFill/>
        </p:spPr>
        <p:txBody>
          <a:bodyPr wrap="square" lIns="18288" rIns="18288" tIns="18288" bIns="18288">
            <a:spAutoFit/>
          </a:bodyPr>
          <a:lstStyle/>
          <a:p>
            <a:pPr algn="ctr">
              <a:defRPr sz="1300" b="1">
                <a:solidFill>
                  <a:srgbClr val="0D305E"/>
                </a:solidFill>
                <a:latin typeface="Aptos"/>
              </a:defRPr>
            </a:pPr>
            <a:r>
              <a:t>Validate</a:t>
            </a:r>
            <a:br/>
            <a:r>
              <a:t>stock</a:t>
            </a:r>
          </a:p>
        </p:txBody>
      </p:sp>
      <p:sp>
        <p:nvSpPr>
          <p:cNvPr id="22" name="TextBox 21"/>
          <p:cNvSpPr txBox="1"/>
          <p:nvPr/>
        </p:nvSpPr>
        <p:spPr>
          <a:xfrm>
            <a:off x="6099048" y="2743200"/>
            <a:ext cx="256032" cy="320040"/>
          </a:xfrm>
          <a:prstGeom prst="rect">
            <a:avLst/>
          </a:prstGeom>
          <a:noFill/>
        </p:spPr>
        <p:txBody>
          <a:bodyPr wrap="square" lIns="18288" rIns="18288" tIns="18288" bIns="18288">
            <a:spAutoFit/>
          </a:bodyPr>
          <a:lstStyle/>
          <a:p>
            <a:pPr algn="ctr">
              <a:defRPr sz="2300" b="1">
                <a:solidFill>
                  <a:srgbClr val="377ED6"/>
                </a:solidFill>
                <a:latin typeface="Aptos"/>
              </a:defRPr>
            </a:pPr>
            <a:r>
              <a:t>›</a:t>
            </a:r>
          </a:p>
        </p:txBody>
      </p:sp>
      <p:sp>
        <p:nvSpPr>
          <p:cNvPr id="23" name="Rounded Rectangle 22"/>
          <p:cNvSpPr/>
          <p:nvPr/>
        </p:nvSpPr>
        <p:spPr>
          <a:xfrm>
            <a:off x="6409944" y="2240280"/>
            <a:ext cx="1600200" cy="1508760"/>
          </a:xfrm>
          <a:prstGeom prst="roundRect">
            <a:avLst/>
          </a:prstGeom>
          <a:solidFill>
            <a:srgbClr val="B2D7FA"/>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976872" y="1938528"/>
            <a:ext cx="457200" cy="45720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76872" y="2029968"/>
            <a:ext cx="457200" cy="164592"/>
          </a:xfrm>
          <a:prstGeom prst="rect">
            <a:avLst/>
          </a:prstGeom>
          <a:noFill/>
        </p:spPr>
        <p:txBody>
          <a:bodyPr wrap="square" lIns="18288" rIns="18288" tIns="18288" bIns="18288">
            <a:spAutoFit/>
          </a:bodyPr>
          <a:lstStyle/>
          <a:p>
            <a:pPr algn="ctr">
              <a:defRPr sz="1100" b="1">
                <a:solidFill>
                  <a:srgbClr val="FFFFFF"/>
                </a:solidFill>
                <a:latin typeface="Aptos"/>
              </a:defRPr>
            </a:pPr>
            <a:r>
              <a:t>4</a:t>
            </a:r>
          </a:p>
        </p:txBody>
      </p:sp>
      <p:sp>
        <p:nvSpPr>
          <p:cNvPr id="26" name="TextBox 25"/>
          <p:cNvSpPr txBox="1"/>
          <p:nvPr/>
        </p:nvSpPr>
        <p:spPr>
          <a:xfrm>
            <a:off x="6519672" y="2670048"/>
            <a:ext cx="1371600" cy="658368"/>
          </a:xfrm>
          <a:prstGeom prst="rect">
            <a:avLst/>
          </a:prstGeom>
          <a:noFill/>
        </p:spPr>
        <p:txBody>
          <a:bodyPr wrap="square" lIns="18288" rIns="18288" tIns="18288" bIns="18288">
            <a:spAutoFit/>
          </a:bodyPr>
          <a:lstStyle/>
          <a:p>
            <a:pPr algn="ctr">
              <a:defRPr sz="1300" b="1">
                <a:solidFill>
                  <a:srgbClr val="0D305E"/>
                </a:solidFill>
                <a:latin typeface="Aptos"/>
              </a:defRPr>
            </a:pPr>
            <a:r>
              <a:t>Calculate</a:t>
            </a:r>
            <a:br/>
            <a:r>
              <a:t>total</a:t>
            </a:r>
          </a:p>
        </p:txBody>
      </p:sp>
      <p:sp>
        <p:nvSpPr>
          <p:cNvPr id="27" name="TextBox 26"/>
          <p:cNvSpPr txBox="1"/>
          <p:nvPr/>
        </p:nvSpPr>
        <p:spPr>
          <a:xfrm>
            <a:off x="8037576" y="2743200"/>
            <a:ext cx="256032" cy="320040"/>
          </a:xfrm>
          <a:prstGeom prst="rect">
            <a:avLst/>
          </a:prstGeom>
          <a:noFill/>
        </p:spPr>
        <p:txBody>
          <a:bodyPr wrap="square" lIns="18288" rIns="18288" tIns="18288" bIns="18288">
            <a:spAutoFit/>
          </a:bodyPr>
          <a:lstStyle/>
          <a:p>
            <a:pPr algn="ctr">
              <a:defRPr sz="2300" b="1">
                <a:solidFill>
                  <a:srgbClr val="377ED6"/>
                </a:solidFill>
                <a:latin typeface="Aptos"/>
              </a:defRPr>
            </a:pPr>
            <a:r>
              <a:t>›</a:t>
            </a:r>
          </a:p>
        </p:txBody>
      </p:sp>
      <p:sp>
        <p:nvSpPr>
          <p:cNvPr id="28" name="Rounded Rectangle 27"/>
          <p:cNvSpPr/>
          <p:nvPr/>
        </p:nvSpPr>
        <p:spPr>
          <a:xfrm>
            <a:off x="8348472" y="2240280"/>
            <a:ext cx="1600200" cy="1508760"/>
          </a:xfrm>
          <a:prstGeom prst="roundRect">
            <a:avLst/>
          </a:prstGeom>
          <a:solidFill>
            <a:srgbClr val="75B8F5"/>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915400" y="1938528"/>
            <a:ext cx="457200" cy="45720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5400" y="2029968"/>
            <a:ext cx="457200" cy="164592"/>
          </a:xfrm>
          <a:prstGeom prst="rect">
            <a:avLst/>
          </a:prstGeom>
          <a:noFill/>
        </p:spPr>
        <p:txBody>
          <a:bodyPr wrap="square" lIns="18288" rIns="18288" tIns="18288" bIns="18288">
            <a:spAutoFit/>
          </a:bodyPr>
          <a:lstStyle/>
          <a:p>
            <a:pPr algn="ctr">
              <a:defRPr sz="1100" b="1">
                <a:solidFill>
                  <a:srgbClr val="FFFFFF"/>
                </a:solidFill>
                <a:latin typeface="Aptos"/>
              </a:defRPr>
            </a:pPr>
            <a:r>
              <a:t>5</a:t>
            </a:r>
          </a:p>
        </p:txBody>
      </p:sp>
      <p:sp>
        <p:nvSpPr>
          <p:cNvPr id="31" name="TextBox 30"/>
          <p:cNvSpPr txBox="1"/>
          <p:nvPr/>
        </p:nvSpPr>
        <p:spPr>
          <a:xfrm>
            <a:off x="8458200" y="2670048"/>
            <a:ext cx="1371600" cy="658368"/>
          </a:xfrm>
          <a:prstGeom prst="rect">
            <a:avLst/>
          </a:prstGeom>
          <a:noFill/>
        </p:spPr>
        <p:txBody>
          <a:bodyPr wrap="square" lIns="18288" rIns="18288" tIns="18288" bIns="18288">
            <a:spAutoFit/>
          </a:bodyPr>
          <a:lstStyle/>
          <a:p>
            <a:pPr algn="ctr">
              <a:defRPr sz="1300" b="1">
                <a:solidFill>
                  <a:srgbClr val="0D305E"/>
                </a:solidFill>
                <a:latin typeface="Aptos"/>
              </a:defRPr>
            </a:pPr>
            <a:r>
              <a:t>Payment</a:t>
            </a:r>
            <a:br/>
            <a:r>
              <a:t>step succeeds</a:t>
            </a:r>
          </a:p>
        </p:txBody>
      </p:sp>
      <p:sp>
        <p:nvSpPr>
          <p:cNvPr id="32" name="TextBox 31"/>
          <p:cNvSpPr txBox="1"/>
          <p:nvPr/>
        </p:nvSpPr>
        <p:spPr>
          <a:xfrm>
            <a:off x="9976104" y="2743200"/>
            <a:ext cx="256032" cy="320040"/>
          </a:xfrm>
          <a:prstGeom prst="rect">
            <a:avLst/>
          </a:prstGeom>
          <a:noFill/>
        </p:spPr>
        <p:txBody>
          <a:bodyPr wrap="square" lIns="18288" rIns="18288" tIns="18288" bIns="18288">
            <a:spAutoFit/>
          </a:bodyPr>
          <a:lstStyle/>
          <a:p>
            <a:pPr algn="ctr">
              <a:defRPr sz="2300" b="1">
                <a:solidFill>
                  <a:srgbClr val="377ED6"/>
                </a:solidFill>
                <a:latin typeface="Aptos"/>
              </a:defRPr>
            </a:pPr>
            <a:r>
              <a:t>›</a:t>
            </a:r>
          </a:p>
        </p:txBody>
      </p:sp>
      <p:sp>
        <p:nvSpPr>
          <p:cNvPr id="33" name="Rounded Rectangle 32"/>
          <p:cNvSpPr/>
          <p:nvPr/>
        </p:nvSpPr>
        <p:spPr>
          <a:xfrm>
            <a:off x="10287000" y="2240280"/>
            <a:ext cx="1600200" cy="1508760"/>
          </a:xfrm>
          <a:prstGeom prst="roundRect">
            <a:avLst/>
          </a:prstGeom>
          <a:solidFill>
            <a:srgbClr val="0D305E"/>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853928" y="1938528"/>
            <a:ext cx="457200" cy="457200"/>
          </a:xfrm>
          <a:prstGeom prst="ellipse">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53928" y="2029968"/>
            <a:ext cx="457200" cy="164592"/>
          </a:xfrm>
          <a:prstGeom prst="rect">
            <a:avLst/>
          </a:prstGeom>
          <a:noFill/>
        </p:spPr>
        <p:txBody>
          <a:bodyPr wrap="square" lIns="18288" rIns="18288" tIns="18288" bIns="18288">
            <a:spAutoFit/>
          </a:bodyPr>
          <a:lstStyle/>
          <a:p>
            <a:pPr algn="ctr">
              <a:defRPr sz="1100" b="1">
                <a:solidFill>
                  <a:srgbClr val="FFFFFF"/>
                </a:solidFill>
                <a:latin typeface="Aptos"/>
              </a:defRPr>
            </a:pPr>
            <a:r>
              <a:t>6</a:t>
            </a:r>
          </a:p>
        </p:txBody>
      </p:sp>
      <p:sp>
        <p:nvSpPr>
          <p:cNvPr id="36" name="TextBox 35"/>
          <p:cNvSpPr txBox="1"/>
          <p:nvPr/>
        </p:nvSpPr>
        <p:spPr>
          <a:xfrm>
            <a:off x="10396728" y="2670048"/>
            <a:ext cx="1371600" cy="658368"/>
          </a:xfrm>
          <a:prstGeom prst="rect">
            <a:avLst/>
          </a:prstGeom>
          <a:noFill/>
        </p:spPr>
        <p:txBody>
          <a:bodyPr wrap="square" lIns="18288" rIns="18288" tIns="18288" bIns="18288">
            <a:spAutoFit/>
          </a:bodyPr>
          <a:lstStyle/>
          <a:p>
            <a:pPr algn="ctr">
              <a:defRPr sz="1300" b="1">
                <a:solidFill>
                  <a:srgbClr val="FFFFFF"/>
                </a:solidFill>
                <a:latin typeface="Aptos"/>
              </a:defRPr>
            </a:pPr>
            <a:r>
              <a:t>Create order</a:t>
            </a:r>
            <a:br/>
            <a:r>
              <a:t>and reduce stock</a:t>
            </a:r>
          </a:p>
        </p:txBody>
      </p:sp>
      <p:sp>
        <p:nvSpPr>
          <p:cNvPr id="37" name="Rounded Rectangle 36"/>
          <p:cNvSpPr/>
          <p:nvPr/>
        </p:nvSpPr>
        <p:spPr>
          <a:xfrm>
            <a:off x="914400" y="4343400"/>
            <a:ext cx="4892040" cy="10972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343400"/>
            <a:ext cx="73152" cy="109728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15568" y="4489704"/>
            <a:ext cx="4507992" cy="329184"/>
          </a:xfrm>
          <a:prstGeom prst="rect">
            <a:avLst/>
          </a:prstGeom>
          <a:noFill/>
        </p:spPr>
        <p:txBody>
          <a:bodyPr wrap="square" lIns="18288" rIns="18288" tIns="18288" bIns="18288">
            <a:spAutoFit/>
          </a:bodyPr>
          <a:lstStyle/>
          <a:p>
            <a:pPr>
              <a:defRPr sz="1600" b="1">
                <a:solidFill>
                  <a:srgbClr val="081B38"/>
                </a:solidFill>
                <a:latin typeface="Aptos Display"/>
              </a:defRPr>
            </a:pPr>
            <a:r>
              <a:t>If stock is insufficient</a:t>
            </a:r>
          </a:p>
        </p:txBody>
      </p:sp>
      <p:sp>
        <p:nvSpPr>
          <p:cNvPr id="40" name="TextBox 39"/>
          <p:cNvSpPr txBox="1"/>
          <p:nvPr/>
        </p:nvSpPr>
        <p:spPr>
          <a:xfrm>
            <a:off x="1115568" y="4910328"/>
            <a:ext cx="4507992" cy="411479"/>
          </a:xfrm>
          <a:prstGeom prst="rect">
            <a:avLst/>
          </a:prstGeom>
          <a:noFill/>
        </p:spPr>
        <p:txBody>
          <a:bodyPr wrap="square" lIns="18288" rIns="18288" tIns="18288" bIns="18288">
            <a:spAutoFit/>
          </a:bodyPr>
          <a:lstStyle/>
          <a:p>
            <a:pPr>
              <a:defRPr sz="1200" b="0">
                <a:solidFill>
                  <a:srgbClr val="162D4C"/>
                </a:solidFill>
                <a:latin typeface="Aptos"/>
              </a:defRPr>
            </a:pPr>
            <a:r>
              <a:t>Reject checkout and ask the customer to update the cart.</a:t>
            </a:r>
          </a:p>
        </p:txBody>
      </p:sp>
      <p:sp>
        <p:nvSpPr>
          <p:cNvPr id="41" name="Rounded Rectangle 40"/>
          <p:cNvSpPr/>
          <p:nvPr/>
        </p:nvSpPr>
        <p:spPr>
          <a:xfrm>
            <a:off x="6355080" y="4343400"/>
            <a:ext cx="4892040" cy="10972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55080" y="4343400"/>
            <a:ext cx="73152" cy="109728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56248" y="4489704"/>
            <a:ext cx="4507992" cy="329184"/>
          </a:xfrm>
          <a:prstGeom prst="rect">
            <a:avLst/>
          </a:prstGeom>
          <a:noFill/>
        </p:spPr>
        <p:txBody>
          <a:bodyPr wrap="square" lIns="18288" rIns="18288" tIns="18288" bIns="18288">
            <a:spAutoFit/>
          </a:bodyPr>
          <a:lstStyle/>
          <a:p>
            <a:pPr>
              <a:defRPr sz="1600" b="1">
                <a:solidFill>
                  <a:srgbClr val="081B38"/>
                </a:solidFill>
                <a:latin typeface="Aptos Display"/>
              </a:defRPr>
            </a:pPr>
            <a:r>
              <a:t>If payment fails</a:t>
            </a:r>
          </a:p>
        </p:txBody>
      </p:sp>
      <p:sp>
        <p:nvSpPr>
          <p:cNvPr id="44" name="TextBox 43"/>
          <p:cNvSpPr txBox="1"/>
          <p:nvPr/>
        </p:nvSpPr>
        <p:spPr>
          <a:xfrm>
            <a:off x="6556248" y="4910328"/>
            <a:ext cx="4507992" cy="411479"/>
          </a:xfrm>
          <a:prstGeom prst="rect">
            <a:avLst/>
          </a:prstGeom>
          <a:noFill/>
        </p:spPr>
        <p:txBody>
          <a:bodyPr wrap="square" lIns="18288" rIns="18288" tIns="18288" bIns="18288">
            <a:spAutoFit/>
          </a:bodyPr>
          <a:lstStyle/>
          <a:p>
            <a:pPr>
              <a:defRPr sz="1200" b="0">
                <a:solidFill>
                  <a:srgbClr val="162D4C"/>
                </a:solidFill>
                <a:latin typeface="Aptos"/>
              </a:defRPr>
            </a:pPr>
            <a:r>
              <a:t>Do not place the order; allow the payment step to be retried.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IMPLEMENTATION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Implementation: Technology Stack</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12</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731520" y="1600200"/>
            <a:ext cx="5257800" cy="102412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600200"/>
            <a:ext cx="73152" cy="10241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4650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Language</a:t>
            </a:r>
          </a:p>
        </p:txBody>
      </p:sp>
      <p:sp>
        <p:nvSpPr>
          <p:cNvPr id="11" name="TextBox 10"/>
          <p:cNvSpPr txBox="1"/>
          <p:nvPr/>
        </p:nvSpPr>
        <p:spPr>
          <a:xfrm>
            <a:off x="932688" y="2167128"/>
            <a:ext cx="4873752" cy="338328"/>
          </a:xfrm>
          <a:prstGeom prst="rect">
            <a:avLst/>
          </a:prstGeom>
          <a:noFill/>
        </p:spPr>
        <p:txBody>
          <a:bodyPr wrap="square" lIns="18288" rIns="18288" tIns="18288" bIns="18288">
            <a:spAutoFit/>
          </a:bodyPr>
          <a:lstStyle/>
          <a:p>
            <a:pPr>
              <a:defRPr sz="1300" b="0">
                <a:solidFill>
                  <a:srgbClr val="162D4C"/>
                </a:solidFill>
                <a:latin typeface="Aptos"/>
              </a:defRPr>
            </a:pPr>
            <a:r>
              <a:t>Java 17 or later</a:t>
            </a:r>
          </a:p>
        </p:txBody>
      </p:sp>
      <p:sp>
        <p:nvSpPr>
          <p:cNvPr id="12" name="Rounded Rectangle 11"/>
          <p:cNvSpPr/>
          <p:nvPr/>
        </p:nvSpPr>
        <p:spPr>
          <a:xfrm>
            <a:off x="6355080" y="1600200"/>
            <a:ext cx="5257800" cy="102412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600200"/>
            <a:ext cx="73152" cy="1024128"/>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174650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Web layer</a:t>
            </a:r>
          </a:p>
        </p:txBody>
      </p:sp>
      <p:sp>
        <p:nvSpPr>
          <p:cNvPr id="15" name="TextBox 14"/>
          <p:cNvSpPr txBox="1"/>
          <p:nvPr/>
        </p:nvSpPr>
        <p:spPr>
          <a:xfrm>
            <a:off x="6556248" y="2167128"/>
            <a:ext cx="4873752" cy="338328"/>
          </a:xfrm>
          <a:prstGeom prst="rect">
            <a:avLst/>
          </a:prstGeom>
          <a:noFill/>
        </p:spPr>
        <p:txBody>
          <a:bodyPr wrap="square" lIns="18288" rIns="18288" tIns="18288" bIns="18288">
            <a:spAutoFit/>
          </a:bodyPr>
          <a:lstStyle/>
          <a:p>
            <a:pPr>
              <a:defRPr sz="1300" b="0">
                <a:solidFill>
                  <a:srgbClr val="162D4C"/>
                </a:solidFill>
                <a:latin typeface="Aptos"/>
              </a:defRPr>
            </a:pPr>
            <a:r>
              <a:t>HTML • CSS • JavaScript • JSP • Spring MVC</a:t>
            </a:r>
          </a:p>
        </p:txBody>
      </p:sp>
      <p:sp>
        <p:nvSpPr>
          <p:cNvPr id="16" name="Rounded Rectangle 15"/>
          <p:cNvSpPr/>
          <p:nvPr/>
        </p:nvSpPr>
        <p:spPr>
          <a:xfrm>
            <a:off x="731520" y="2926080"/>
            <a:ext cx="5257800" cy="102412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926080"/>
            <a:ext cx="73152" cy="1024128"/>
          </a:xfrm>
          <a:prstGeom prst="rect">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07238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Application framework</a:t>
            </a:r>
          </a:p>
        </p:txBody>
      </p:sp>
      <p:sp>
        <p:nvSpPr>
          <p:cNvPr id="19" name="TextBox 18"/>
          <p:cNvSpPr txBox="1"/>
          <p:nvPr/>
        </p:nvSpPr>
        <p:spPr>
          <a:xfrm>
            <a:off x="932688" y="3493008"/>
            <a:ext cx="4873752" cy="338328"/>
          </a:xfrm>
          <a:prstGeom prst="rect">
            <a:avLst/>
          </a:prstGeom>
          <a:noFill/>
        </p:spPr>
        <p:txBody>
          <a:bodyPr wrap="square" lIns="18288" rIns="18288" tIns="18288" bIns="18288">
            <a:spAutoFit/>
          </a:bodyPr>
          <a:lstStyle/>
          <a:p>
            <a:pPr>
              <a:defRPr sz="1300" b="0">
                <a:solidFill>
                  <a:srgbClr val="162D4C"/>
                </a:solidFill>
                <a:latin typeface="Aptos"/>
              </a:defRPr>
            </a:pPr>
            <a:r>
              <a:t>Spring Boot • Spring Security</a:t>
            </a:r>
          </a:p>
        </p:txBody>
      </p:sp>
      <p:sp>
        <p:nvSpPr>
          <p:cNvPr id="20" name="Rounded Rectangle 19"/>
          <p:cNvSpPr/>
          <p:nvPr/>
        </p:nvSpPr>
        <p:spPr>
          <a:xfrm>
            <a:off x="6355080" y="2926080"/>
            <a:ext cx="5257800" cy="102412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926080"/>
            <a:ext cx="73152" cy="102412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307238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Persistence</a:t>
            </a:r>
          </a:p>
        </p:txBody>
      </p:sp>
      <p:sp>
        <p:nvSpPr>
          <p:cNvPr id="23" name="TextBox 22"/>
          <p:cNvSpPr txBox="1"/>
          <p:nvPr/>
        </p:nvSpPr>
        <p:spPr>
          <a:xfrm>
            <a:off x="6556248" y="3493008"/>
            <a:ext cx="4873752" cy="338328"/>
          </a:xfrm>
          <a:prstGeom prst="rect">
            <a:avLst/>
          </a:prstGeom>
          <a:noFill/>
        </p:spPr>
        <p:txBody>
          <a:bodyPr wrap="square" lIns="18288" rIns="18288" tIns="18288" bIns="18288">
            <a:spAutoFit/>
          </a:bodyPr>
          <a:lstStyle/>
          <a:p>
            <a:pPr>
              <a:defRPr sz="1300" b="0">
                <a:solidFill>
                  <a:srgbClr val="162D4C"/>
                </a:solidFill>
                <a:latin typeface="Aptos"/>
              </a:defRPr>
            </a:pPr>
            <a:r>
              <a:t>Hibernate / JPA • MySQL 8</a:t>
            </a:r>
          </a:p>
        </p:txBody>
      </p:sp>
      <p:sp>
        <p:nvSpPr>
          <p:cNvPr id="24" name="Rounded Rectangle 23"/>
          <p:cNvSpPr/>
          <p:nvPr/>
        </p:nvSpPr>
        <p:spPr>
          <a:xfrm>
            <a:off x="731520" y="4251960"/>
            <a:ext cx="5257800" cy="102412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251960"/>
            <a:ext cx="73152" cy="1024128"/>
          </a:xfrm>
          <a:prstGeom prst="rect">
            <a:avLst/>
          </a:prstGeom>
          <a:solidFill>
            <a:srgbClr val="4E6C91"/>
          </a:solidFill>
          <a:ln>
            <a:solidFill>
              <a:srgbClr val="4E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39826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Testing &amp; build</a:t>
            </a:r>
          </a:p>
        </p:txBody>
      </p:sp>
      <p:sp>
        <p:nvSpPr>
          <p:cNvPr id="27" name="TextBox 26"/>
          <p:cNvSpPr txBox="1"/>
          <p:nvPr/>
        </p:nvSpPr>
        <p:spPr>
          <a:xfrm>
            <a:off x="932688" y="4818888"/>
            <a:ext cx="4873752" cy="338328"/>
          </a:xfrm>
          <a:prstGeom prst="rect">
            <a:avLst/>
          </a:prstGeom>
          <a:noFill/>
        </p:spPr>
        <p:txBody>
          <a:bodyPr wrap="square" lIns="18288" rIns="18288" tIns="18288" bIns="18288">
            <a:spAutoFit/>
          </a:bodyPr>
          <a:lstStyle/>
          <a:p>
            <a:pPr>
              <a:defRPr sz="1300" b="0">
                <a:solidFill>
                  <a:srgbClr val="162D4C"/>
                </a:solidFill>
                <a:latin typeface="Aptos"/>
              </a:defRPr>
            </a:pPr>
            <a:r>
              <a:t>JUnit • Maven</a:t>
            </a:r>
          </a:p>
        </p:txBody>
      </p:sp>
      <p:sp>
        <p:nvSpPr>
          <p:cNvPr id="28" name="Rounded Rectangle 27"/>
          <p:cNvSpPr/>
          <p:nvPr/>
        </p:nvSpPr>
        <p:spPr>
          <a:xfrm>
            <a:off x="6355080" y="4251960"/>
            <a:ext cx="5257800" cy="102412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5080" y="4251960"/>
            <a:ext cx="73152" cy="10241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6248" y="439826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Version control &amp; server</a:t>
            </a:r>
          </a:p>
        </p:txBody>
      </p:sp>
      <p:sp>
        <p:nvSpPr>
          <p:cNvPr id="31" name="TextBox 30"/>
          <p:cNvSpPr txBox="1"/>
          <p:nvPr/>
        </p:nvSpPr>
        <p:spPr>
          <a:xfrm>
            <a:off x="6556248" y="4818888"/>
            <a:ext cx="4873752" cy="338328"/>
          </a:xfrm>
          <a:prstGeom prst="rect">
            <a:avLst/>
          </a:prstGeom>
          <a:noFill/>
        </p:spPr>
        <p:txBody>
          <a:bodyPr wrap="square" lIns="18288" rIns="18288" tIns="18288" bIns="18288">
            <a:spAutoFit/>
          </a:bodyPr>
          <a:lstStyle/>
          <a:p>
            <a:pPr>
              <a:defRPr sz="1300" b="0">
                <a:solidFill>
                  <a:srgbClr val="162D4C"/>
                </a:solidFill>
                <a:latin typeface="Aptos"/>
              </a:defRPr>
            </a:pPr>
            <a:r>
              <a:t>Git • Apache Tomcat</a:t>
            </a:r>
          </a:p>
        </p:txBody>
      </p:sp>
      <p:sp>
        <p:nvSpPr>
          <p:cNvPr id="32" name="TextBox 31"/>
          <p:cNvSpPr txBox="1"/>
          <p:nvPr/>
        </p:nvSpPr>
        <p:spPr>
          <a:xfrm>
            <a:off x="914400" y="5806440"/>
            <a:ext cx="10058400" cy="320040"/>
          </a:xfrm>
          <a:prstGeom prst="rect">
            <a:avLst/>
          </a:prstGeom>
          <a:noFill/>
        </p:spPr>
        <p:txBody>
          <a:bodyPr wrap="square" lIns="18288" rIns="18288" tIns="18288" bIns="18288">
            <a:spAutoFit/>
          </a:bodyPr>
          <a:lstStyle/>
          <a:p>
            <a:pPr algn="ctr">
              <a:defRPr sz="1300" b="1">
                <a:solidFill>
                  <a:srgbClr val="526985"/>
                </a:solidFill>
                <a:latin typeface="Aptos"/>
              </a:defRPr>
            </a:pPr>
            <a:r>
              <a:t>Project structure separates controller, service, repository, model, security, templates and resources.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IMPLEMENTATION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Security &amp; Reliability Measures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13</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731520" y="1554480"/>
            <a:ext cx="5257800" cy="111556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554480"/>
            <a:ext cx="73152" cy="111556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70078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Authentication</a:t>
            </a:r>
          </a:p>
        </p:txBody>
      </p:sp>
      <p:sp>
        <p:nvSpPr>
          <p:cNvPr id="11" name="TextBox 10"/>
          <p:cNvSpPr txBox="1"/>
          <p:nvPr/>
        </p:nvSpPr>
        <p:spPr>
          <a:xfrm>
            <a:off x="932688" y="2121408"/>
            <a:ext cx="4873752" cy="429768"/>
          </a:xfrm>
          <a:prstGeom prst="rect">
            <a:avLst/>
          </a:prstGeom>
          <a:noFill/>
        </p:spPr>
        <p:txBody>
          <a:bodyPr wrap="square" lIns="18288" rIns="18288" tIns="18288" bIns="18288">
            <a:spAutoFit/>
          </a:bodyPr>
          <a:lstStyle/>
          <a:p>
            <a:pPr>
              <a:defRPr sz="1200" b="0">
                <a:solidFill>
                  <a:srgbClr val="162D4C"/>
                </a:solidFill>
                <a:latin typeface="Aptos"/>
              </a:defRPr>
            </a:pPr>
            <a:r>
              <a:t>Credentials checked against salted password hashes.</a:t>
            </a:r>
          </a:p>
        </p:txBody>
      </p:sp>
      <p:sp>
        <p:nvSpPr>
          <p:cNvPr id="12" name="Rounded Rectangle 11"/>
          <p:cNvSpPr/>
          <p:nvPr/>
        </p:nvSpPr>
        <p:spPr>
          <a:xfrm>
            <a:off x="6355080" y="1554480"/>
            <a:ext cx="5257800" cy="111556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1554480"/>
            <a:ext cx="73152" cy="111556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170078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Authorisation</a:t>
            </a:r>
          </a:p>
        </p:txBody>
      </p:sp>
      <p:sp>
        <p:nvSpPr>
          <p:cNvPr id="15" name="TextBox 14"/>
          <p:cNvSpPr txBox="1"/>
          <p:nvPr/>
        </p:nvSpPr>
        <p:spPr>
          <a:xfrm>
            <a:off x="6556248" y="2121408"/>
            <a:ext cx="4873752" cy="429768"/>
          </a:xfrm>
          <a:prstGeom prst="rect">
            <a:avLst/>
          </a:prstGeom>
          <a:noFill/>
        </p:spPr>
        <p:txBody>
          <a:bodyPr wrap="square" lIns="18288" rIns="18288" tIns="18288" bIns="18288">
            <a:spAutoFit/>
          </a:bodyPr>
          <a:lstStyle/>
          <a:p>
            <a:pPr>
              <a:defRPr sz="1200" b="0">
                <a:solidFill>
                  <a:srgbClr val="162D4C"/>
                </a:solidFill>
                <a:latin typeface="Aptos"/>
              </a:defRPr>
            </a:pPr>
            <a:r>
              <a:t>Role-based rules protect administrator URLs and actions.</a:t>
            </a:r>
          </a:p>
        </p:txBody>
      </p:sp>
      <p:sp>
        <p:nvSpPr>
          <p:cNvPr id="16" name="Rounded Rectangle 15"/>
          <p:cNvSpPr/>
          <p:nvPr/>
        </p:nvSpPr>
        <p:spPr>
          <a:xfrm>
            <a:off x="731520" y="2944368"/>
            <a:ext cx="5257800" cy="111556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944368"/>
            <a:ext cx="73152" cy="1115568"/>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3090672"/>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Input validation</a:t>
            </a:r>
          </a:p>
        </p:txBody>
      </p:sp>
      <p:sp>
        <p:nvSpPr>
          <p:cNvPr id="19" name="TextBox 18"/>
          <p:cNvSpPr txBox="1"/>
          <p:nvPr/>
        </p:nvSpPr>
        <p:spPr>
          <a:xfrm>
            <a:off x="932688" y="3511296"/>
            <a:ext cx="4873752" cy="429768"/>
          </a:xfrm>
          <a:prstGeom prst="rect">
            <a:avLst/>
          </a:prstGeom>
          <a:noFill/>
        </p:spPr>
        <p:txBody>
          <a:bodyPr wrap="square" lIns="18288" rIns="18288" tIns="18288" bIns="18288">
            <a:spAutoFit/>
          </a:bodyPr>
          <a:lstStyle/>
          <a:p>
            <a:pPr>
              <a:defRPr sz="1200" b="0">
                <a:solidFill>
                  <a:srgbClr val="162D4C"/>
                </a:solidFill>
                <a:latin typeface="Aptos"/>
              </a:defRPr>
            </a:pPr>
            <a:r>
              <a:t>Checks quantities, prices, email uniqueness and address format.</a:t>
            </a:r>
          </a:p>
        </p:txBody>
      </p:sp>
      <p:sp>
        <p:nvSpPr>
          <p:cNvPr id="20" name="Rounded Rectangle 19"/>
          <p:cNvSpPr/>
          <p:nvPr/>
        </p:nvSpPr>
        <p:spPr>
          <a:xfrm>
            <a:off x="6355080" y="2944368"/>
            <a:ext cx="5257800" cy="111556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2944368"/>
            <a:ext cx="73152" cy="1115568"/>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3090672"/>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SQL injection protection</a:t>
            </a:r>
          </a:p>
        </p:txBody>
      </p:sp>
      <p:sp>
        <p:nvSpPr>
          <p:cNvPr id="23" name="TextBox 22"/>
          <p:cNvSpPr txBox="1"/>
          <p:nvPr/>
        </p:nvSpPr>
        <p:spPr>
          <a:xfrm>
            <a:off x="6556248" y="3511296"/>
            <a:ext cx="4873752" cy="429768"/>
          </a:xfrm>
          <a:prstGeom prst="rect">
            <a:avLst/>
          </a:prstGeom>
          <a:noFill/>
        </p:spPr>
        <p:txBody>
          <a:bodyPr wrap="square" lIns="18288" rIns="18288" tIns="18288" bIns="18288">
            <a:spAutoFit/>
          </a:bodyPr>
          <a:lstStyle/>
          <a:p>
            <a:pPr>
              <a:defRPr sz="1200" b="0">
                <a:solidFill>
                  <a:srgbClr val="162D4C"/>
                </a:solidFill>
                <a:latin typeface="Aptos"/>
              </a:defRPr>
            </a:pPr>
            <a:r>
              <a:t>Parameterized data access through JPA and Hibernate.</a:t>
            </a:r>
          </a:p>
        </p:txBody>
      </p:sp>
      <p:sp>
        <p:nvSpPr>
          <p:cNvPr id="24" name="Rounded Rectangle 23"/>
          <p:cNvSpPr/>
          <p:nvPr/>
        </p:nvSpPr>
        <p:spPr>
          <a:xfrm>
            <a:off x="731520" y="4334256"/>
            <a:ext cx="5257800" cy="111556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4334256"/>
            <a:ext cx="73152" cy="1115568"/>
          </a:xfrm>
          <a:prstGeom prst="rect">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480560"/>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Session handling</a:t>
            </a:r>
          </a:p>
        </p:txBody>
      </p:sp>
      <p:sp>
        <p:nvSpPr>
          <p:cNvPr id="27" name="TextBox 26"/>
          <p:cNvSpPr txBox="1"/>
          <p:nvPr/>
        </p:nvSpPr>
        <p:spPr>
          <a:xfrm>
            <a:off x="932688" y="4901184"/>
            <a:ext cx="4873752" cy="429768"/>
          </a:xfrm>
          <a:prstGeom prst="rect">
            <a:avLst/>
          </a:prstGeom>
          <a:noFill/>
        </p:spPr>
        <p:txBody>
          <a:bodyPr wrap="square" lIns="18288" rIns="18288" tIns="18288" bIns="18288">
            <a:spAutoFit/>
          </a:bodyPr>
          <a:lstStyle/>
          <a:p>
            <a:pPr>
              <a:defRPr sz="1200" b="0">
                <a:solidFill>
                  <a:srgbClr val="162D4C"/>
                </a:solidFill>
                <a:latin typeface="Aptos"/>
              </a:defRPr>
            </a:pPr>
            <a:r>
              <a:t>Logout invalidates the session; inactivity expiry is supported.</a:t>
            </a:r>
          </a:p>
        </p:txBody>
      </p:sp>
      <p:sp>
        <p:nvSpPr>
          <p:cNvPr id="28" name="Rounded Rectangle 27"/>
          <p:cNvSpPr/>
          <p:nvPr/>
        </p:nvSpPr>
        <p:spPr>
          <a:xfrm>
            <a:off x="6355080" y="4334256"/>
            <a:ext cx="5257800" cy="1115568"/>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5080" y="4334256"/>
            <a:ext cx="73152" cy="1115568"/>
          </a:xfrm>
          <a:prstGeom prst="rect">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6248" y="4480560"/>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Transactional ordering</a:t>
            </a:r>
          </a:p>
        </p:txBody>
      </p:sp>
      <p:sp>
        <p:nvSpPr>
          <p:cNvPr id="31" name="TextBox 30"/>
          <p:cNvSpPr txBox="1"/>
          <p:nvPr/>
        </p:nvSpPr>
        <p:spPr>
          <a:xfrm>
            <a:off x="6556248" y="4901184"/>
            <a:ext cx="4873752" cy="429768"/>
          </a:xfrm>
          <a:prstGeom prst="rect">
            <a:avLst/>
          </a:prstGeom>
          <a:noFill/>
        </p:spPr>
        <p:txBody>
          <a:bodyPr wrap="square" lIns="18288" rIns="18288" tIns="18288" bIns="18288">
            <a:spAutoFit/>
          </a:bodyPr>
          <a:lstStyle/>
          <a:p>
            <a:pPr>
              <a:defRPr sz="1200" b="0">
                <a:solidFill>
                  <a:srgbClr val="162D4C"/>
                </a:solidFill>
                <a:latin typeface="Aptos"/>
              </a:defRPr>
            </a:pPr>
            <a:r>
              <a:t>Order creation, stock reduction and cart clearing are coordinated.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TESTING</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Testing Strategy &amp; Representative Test Cases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14</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777240" y="1508760"/>
            <a:ext cx="1828800" cy="566928"/>
          </a:xfrm>
          <a:prstGeom prst="roundRect">
            <a:avLst/>
          </a:prstGeom>
          <a:solidFill>
            <a:srgbClr val="235CB4"/>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7"/>
            <a:ext cx="1645920" cy="201168"/>
          </a:xfrm>
          <a:prstGeom prst="rect">
            <a:avLst/>
          </a:prstGeom>
          <a:noFill/>
        </p:spPr>
        <p:txBody>
          <a:bodyPr wrap="square" lIns="18288" rIns="18288" tIns="18288" bIns="18288">
            <a:spAutoFit/>
          </a:bodyPr>
          <a:lstStyle/>
          <a:p>
            <a:pPr algn="ctr">
              <a:defRPr sz="1300" b="1">
                <a:solidFill>
                  <a:srgbClr val="FFFFFF"/>
                </a:solidFill>
                <a:latin typeface="Aptos"/>
              </a:defRPr>
            </a:pPr>
            <a:r>
              <a:t>Unit</a:t>
            </a:r>
          </a:p>
        </p:txBody>
      </p:sp>
      <p:sp>
        <p:nvSpPr>
          <p:cNvPr id="10" name="TextBox 9"/>
          <p:cNvSpPr txBox="1"/>
          <p:nvPr/>
        </p:nvSpPr>
        <p:spPr>
          <a:xfrm>
            <a:off x="2880360" y="1563624"/>
            <a:ext cx="4846320" cy="384048"/>
          </a:xfrm>
          <a:prstGeom prst="rect">
            <a:avLst/>
          </a:prstGeom>
          <a:noFill/>
        </p:spPr>
        <p:txBody>
          <a:bodyPr wrap="square" lIns="18288" rIns="18288" tIns="18288" bIns="18288">
            <a:spAutoFit/>
          </a:bodyPr>
          <a:lstStyle/>
          <a:p>
            <a:pPr>
              <a:defRPr sz="1300" b="0">
                <a:solidFill>
                  <a:srgbClr val="162D4C"/>
                </a:solidFill>
                <a:latin typeface="Aptos"/>
              </a:defRPr>
            </a:pPr>
            <a:r>
              <a:t>Price calculation and stock validation</a:t>
            </a:r>
          </a:p>
        </p:txBody>
      </p:sp>
      <p:sp>
        <p:nvSpPr>
          <p:cNvPr id="11" name="TextBox 10"/>
          <p:cNvSpPr txBox="1"/>
          <p:nvPr/>
        </p:nvSpPr>
        <p:spPr>
          <a:xfrm>
            <a:off x="8001000" y="1563624"/>
            <a:ext cx="3108960" cy="384048"/>
          </a:xfrm>
          <a:prstGeom prst="rect">
            <a:avLst/>
          </a:prstGeom>
          <a:noFill/>
        </p:spPr>
        <p:txBody>
          <a:bodyPr wrap="square" lIns="18288" rIns="18288" tIns="18288" bIns="18288">
            <a:spAutoFit/>
          </a:bodyPr>
          <a:lstStyle/>
          <a:p>
            <a:pPr>
              <a:defRPr sz="1200" b="1">
                <a:solidFill>
                  <a:srgbClr val="235CB4"/>
                </a:solidFill>
                <a:latin typeface="Aptos"/>
              </a:defRPr>
            </a:pPr>
            <a:r>
              <a:t>JUnit</a:t>
            </a:r>
          </a:p>
        </p:txBody>
      </p:sp>
      <p:sp>
        <p:nvSpPr>
          <p:cNvPr id="12" name="Rounded Rectangle 11"/>
          <p:cNvSpPr/>
          <p:nvPr/>
        </p:nvSpPr>
        <p:spPr>
          <a:xfrm>
            <a:off x="777240" y="2313432"/>
            <a:ext cx="1828800" cy="566928"/>
          </a:xfrm>
          <a:prstGeom prst="roundRect">
            <a:avLst/>
          </a:prstGeom>
          <a:solidFill>
            <a:srgbClr val="377ED6"/>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468879"/>
            <a:ext cx="1645920" cy="201168"/>
          </a:xfrm>
          <a:prstGeom prst="rect">
            <a:avLst/>
          </a:prstGeom>
          <a:noFill/>
        </p:spPr>
        <p:txBody>
          <a:bodyPr wrap="square" lIns="18288" rIns="18288" tIns="18288" bIns="18288">
            <a:spAutoFit/>
          </a:bodyPr>
          <a:lstStyle/>
          <a:p>
            <a:pPr algn="ctr">
              <a:defRPr sz="1300" b="1">
                <a:solidFill>
                  <a:srgbClr val="FFFFFF"/>
                </a:solidFill>
                <a:latin typeface="Aptos"/>
              </a:defRPr>
            </a:pPr>
            <a:r>
              <a:t>Integration</a:t>
            </a:r>
          </a:p>
        </p:txBody>
      </p:sp>
      <p:sp>
        <p:nvSpPr>
          <p:cNvPr id="14" name="TextBox 13"/>
          <p:cNvSpPr txBox="1"/>
          <p:nvPr/>
        </p:nvSpPr>
        <p:spPr>
          <a:xfrm>
            <a:off x="2880360" y="2368296"/>
            <a:ext cx="4846320" cy="384048"/>
          </a:xfrm>
          <a:prstGeom prst="rect">
            <a:avLst/>
          </a:prstGeom>
          <a:noFill/>
        </p:spPr>
        <p:txBody>
          <a:bodyPr wrap="square" lIns="18288" rIns="18288" tIns="18288" bIns="18288">
            <a:spAutoFit/>
          </a:bodyPr>
          <a:lstStyle/>
          <a:p>
            <a:pPr>
              <a:defRPr sz="1300" b="0">
                <a:solidFill>
                  <a:srgbClr val="162D4C"/>
                </a:solidFill>
                <a:latin typeface="Aptos"/>
              </a:defRPr>
            </a:pPr>
            <a:r>
              <a:t>Controller, service and database interactions</a:t>
            </a:r>
          </a:p>
        </p:txBody>
      </p:sp>
      <p:sp>
        <p:nvSpPr>
          <p:cNvPr id="15" name="TextBox 14"/>
          <p:cNvSpPr txBox="1"/>
          <p:nvPr/>
        </p:nvSpPr>
        <p:spPr>
          <a:xfrm>
            <a:off x="8001000" y="2368296"/>
            <a:ext cx="3108960" cy="384048"/>
          </a:xfrm>
          <a:prstGeom prst="rect">
            <a:avLst/>
          </a:prstGeom>
          <a:noFill/>
        </p:spPr>
        <p:txBody>
          <a:bodyPr wrap="square" lIns="18288" rIns="18288" tIns="18288" bIns="18288">
            <a:spAutoFit/>
          </a:bodyPr>
          <a:lstStyle/>
          <a:p>
            <a:pPr>
              <a:defRPr sz="1200" b="1">
                <a:solidFill>
                  <a:srgbClr val="235CB4"/>
                </a:solidFill>
                <a:latin typeface="Aptos"/>
              </a:defRPr>
            </a:pPr>
            <a:r>
              <a:t>JUnit + Spring Boot tests</a:t>
            </a:r>
          </a:p>
        </p:txBody>
      </p:sp>
      <p:sp>
        <p:nvSpPr>
          <p:cNvPr id="16" name="Rounded Rectangle 15"/>
          <p:cNvSpPr/>
          <p:nvPr/>
        </p:nvSpPr>
        <p:spPr>
          <a:xfrm>
            <a:off x="777240" y="3118104"/>
            <a:ext cx="1828800" cy="566928"/>
          </a:xfrm>
          <a:prstGeom prst="roundRect">
            <a:avLst/>
          </a:prstGeom>
          <a:solidFill>
            <a:srgbClr val="0D305E"/>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73552"/>
            <a:ext cx="1645920" cy="201168"/>
          </a:xfrm>
          <a:prstGeom prst="rect">
            <a:avLst/>
          </a:prstGeom>
          <a:noFill/>
        </p:spPr>
        <p:txBody>
          <a:bodyPr wrap="square" lIns="18288" rIns="18288" tIns="18288" bIns="18288">
            <a:spAutoFit/>
          </a:bodyPr>
          <a:lstStyle/>
          <a:p>
            <a:pPr algn="ctr">
              <a:defRPr sz="1300" b="1">
                <a:solidFill>
                  <a:srgbClr val="FFFFFF"/>
                </a:solidFill>
                <a:latin typeface="Aptos"/>
              </a:defRPr>
            </a:pPr>
            <a:r>
              <a:t>System</a:t>
            </a:r>
          </a:p>
        </p:txBody>
      </p:sp>
      <p:sp>
        <p:nvSpPr>
          <p:cNvPr id="18" name="TextBox 17"/>
          <p:cNvSpPr txBox="1"/>
          <p:nvPr/>
        </p:nvSpPr>
        <p:spPr>
          <a:xfrm>
            <a:off x="2880360" y="3172968"/>
            <a:ext cx="4846320" cy="384048"/>
          </a:xfrm>
          <a:prstGeom prst="rect">
            <a:avLst/>
          </a:prstGeom>
          <a:noFill/>
        </p:spPr>
        <p:txBody>
          <a:bodyPr wrap="square" lIns="18288" rIns="18288" tIns="18288" bIns="18288">
            <a:spAutoFit/>
          </a:bodyPr>
          <a:lstStyle/>
          <a:p>
            <a:pPr>
              <a:defRPr sz="1300" b="0">
                <a:solidFill>
                  <a:srgbClr val="162D4C"/>
                </a:solidFill>
                <a:latin typeface="Aptos"/>
              </a:defRPr>
            </a:pPr>
            <a:r>
              <a:t>Browse → cart → checkout → tracking</a:t>
            </a:r>
          </a:p>
        </p:txBody>
      </p:sp>
      <p:sp>
        <p:nvSpPr>
          <p:cNvPr id="19" name="TextBox 18"/>
          <p:cNvSpPr txBox="1"/>
          <p:nvPr/>
        </p:nvSpPr>
        <p:spPr>
          <a:xfrm>
            <a:off x="8001000" y="3172968"/>
            <a:ext cx="3108960" cy="384048"/>
          </a:xfrm>
          <a:prstGeom prst="rect">
            <a:avLst/>
          </a:prstGeom>
          <a:noFill/>
        </p:spPr>
        <p:txBody>
          <a:bodyPr wrap="square" lIns="18288" rIns="18288" tIns="18288" bIns="18288">
            <a:spAutoFit/>
          </a:bodyPr>
          <a:lstStyle/>
          <a:p>
            <a:pPr>
              <a:defRPr sz="1200" b="1">
                <a:solidFill>
                  <a:srgbClr val="235CB4"/>
                </a:solidFill>
                <a:latin typeface="Aptos"/>
              </a:defRPr>
            </a:pPr>
            <a:r>
              <a:t>Manual scripts</a:t>
            </a:r>
          </a:p>
        </p:txBody>
      </p:sp>
      <p:sp>
        <p:nvSpPr>
          <p:cNvPr id="20" name="Rounded Rectangle 19"/>
          <p:cNvSpPr/>
          <p:nvPr/>
        </p:nvSpPr>
        <p:spPr>
          <a:xfrm>
            <a:off x="777240" y="3922776"/>
            <a:ext cx="1828800" cy="566928"/>
          </a:xfrm>
          <a:prstGeom prst="roundRect">
            <a:avLst/>
          </a:prstGeom>
          <a:solidFill>
            <a:srgbClr val="4E6C91"/>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78224"/>
            <a:ext cx="1645920" cy="201168"/>
          </a:xfrm>
          <a:prstGeom prst="rect">
            <a:avLst/>
          </a:prstGeom>
          <a:noFill/>
        </p:spPr>
        <p:txBody>
          <a:bodyPr wrap="square" lIns="18288" rIns="18288" tIns="18288" bIns="18288">
            <a:spAutoFit/>
          </a:bodyPr>
          <a:lstStyle/>
          <a:p>
            <a:pPr algn="ctr">
              <a:defRPr sz="1300" b="1">
                <a:solidFill>
                  <a:srgbClr val="FFFFFF"/>
                </a:solidFill>
                <a:latin typeface="Aptos"/>
              </a:defRPr>
            </a:pPr>
            <a:r>
              <a:t>Security</a:t>
            </a:r>
          </a:p>
        </p:txBody>
      </p:sp>
      <p:sp>
        <p:nvSpPr>
          <p:cNvPr id="22" name="TextBox 21"/>
          <p:cNvSpPr txBox="1"/>
          <p:nvPr/>
        </p:nvSpPr>
        <p:spPr>
          <a:xfrm>
            <a:off x="2880360" y="3977639"/>
            <a:ext cx="4846320" cy="384048"/>
          </a:xfrm>
          <a:prstGeom prst="rect">
            <a:avLst/>
          </a:prstGeom>
          <a:noFill/>
        </p:spPr>
        <p:txBody>
          <a:bodyPr wrap="square" lIns="18288" rIns="18288" tIns="18288" bIns="18288">
            <a:spAutoFit/>
          </a:bodyPr>
          <a:lstStyle/>
          <a:p>
            <a:pPr>
              <a:defRPr sz="1300" b="0">
                <a:solidFill>
                  <a:srgbClr val="162D4C"/>
                </a:solidFill>
                <a:latin typeface="Aptos"/>
              </a:defRPr>
            </a:pPr>
            <a:r>
              <a:t>Role restrictions, session expiry, invalid input</a:t>
            </a:r>
          </a:p>
        </p:txBody>
      </p:sp>
      <p:sp>
        <p:nvSpPr>
          <p:cNvPr id="23" name="TextBox 22"/>
          <p:cNvSpPr txBox="1"/>
          <p:nvPr/>
        </p:nvSpPr>
        <p:spPr>
          <a:xfrm>
            <a:off x="8001000" y="3977639"/>
            <a:ext cx="3108960" cy="384048"/>
          </a:xfrm>
          <a:prstGeom prst="rect">
            <a:avLst/>
          </a:prstGeom>
          <a:noFill/>
        </p:spPr>
        <p:txBody>
          <a:bodyPr wrap="square" lIns="18288" rIns="18288" tIns="18288" bIns="18288">
            <a:spAutoFit/>
          </a:bodyPr>
          <a:lstStyle/>
          <a:p>
            <a:pPr>
              <a:defRPr sz="1200" b="1">
                <a:solidFill>
                  <a:srgbClr val="235CB4"/>
                </a:solidFill>
                <a:latin typeface="Aptos"/>
              </a:defRPr>
            </a:pPr>
            <a:r>
              <a:t>Manual verification</a:t>
            </a:r>
          </a:p>
        </p:txBody>
      </p:sp>
      <p:sp>
        <p:nvSpPr>
          <p:cNvPr id="24" name="Rounded Rectangle 23"/>
          <p:cNvSpPr/>
          <p:nvPr/>
        </p:nvSpPr>
        <p:spPr>
          <a:xfrm>
            <a:off x="777240" y="4727448"/>
            <a:ext cx="1828800" cy="566928"/>
          </a:xfrm>
          <a:prstGeom prst="roundRect">
            <a:avLst/>
          </a:prstGeom>
          <a:solidFill>
            <a:srgbClr val="75B8F5"/>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882896"/>
            <a:ext cx="1645920" cy="201168"/>
          </a:xfrm>
          <a:prstGeom prst="rect">
            <a:avLst/>
          </a:prstGeom>
          <a:noFill/>
        </p:spPr>
        <p:txBody>
          <a:bodyPr wrap="square" lIns="18288" rIns="18288" tIns="18288" bIns="18288">
            <a:spAutoFit/>
          </a:bodyPr>
          <a:lstStyle/>
          <a:p>
            <a:pPr algn="ctr">
              <a:defRPr sz="1300" b="1">
                <a:solidFill>
                  <a:srgbClr val="081B38"/>
                </a:solidFill>
                <a:latin typeface="Aptos"/>
              </a:defRPr>
            </a:pPr>
            <a:r>
              <a:t>User acceptance</a:t>
            </a:r>
          </a:p>
        </p:txBody>
      </p:sp>
      <p:sp>
        <p:nvSpPr>
          <p:cNvPr id="26" name="TextBox 25"/>
          <p:cNvSpPr txBox="1"/>
          <p:nvPr/>
        </p:nvSpPr>
        <p:spPr>
          <a:xfrm>
            <a:off x="2880360" y="4782312"/>
            <a:ext cx="4846320" cy="384048"/>
          </a:xfrm>
          <a:prstGeom prst="rect">
            <a:avLst/>
          </a:prstGeom>
          <a:noFill/>
        </p:spPr>
        <p:txBody>
          <a:bodyPr wrap="square" lIns="18288" rIns="18288" tIns="18288" bIns="18288">
            <a:spAutoFit/>
          </a:bodyPr>
          <a:lstStyle/>
          <a:p>
            <a:pPr>
              <a:defRPr sz="1300" b="0">
                <a:solidFill>
                  <a:srgbClr val="162D4C"/>
                </a:solidFill>
                <a:latin typeface="Aptos"/>
              </a:defRPr>
            </a:pPr>
            <a:r>
              <a:t>Usability and correctness review</a:t>
            </a:r>
          </a:p>
        </p:txBody>
      </p:sp>
      <p:sp>
        <p:nvSpPr>
          <p:cNvPr id="27" name="TextBox 26"/>
          <p:cNvSpPr txBox="1"/>
          <p:nvPr/>
        </p:nvSpPr>
        <p:spPr>
          <a:xfrm>
            <a:off x="8001000" y="4782312"/>
            <a:ext cx="3108960" cy="384048"/>
          </a:xfrm>
          <a:prstGeom prst="rect">
            <a:avLst/>
          </a:prstGeom>
          <a:noFill/>
        </p:spPr>
        <p:txBody>
          <a:bodyPr wrap="square" lIns="18288" rIns="18288" tIns="18288" bIns="18288">
            <a:spAutoFit/>
          </a:bodyPr>
          <a:lstStyle/>
          <a:p>
            <a:pPr>
              <a:defRPr sz="1200" b="1">
                <a:solidFill>
                  <a:srgbClr val="235CB4"/>
                </a:solidFill>
                <a:latin typeface="Aptos"/>
              </a:defRPr>
            </a:pPr>
            <a:r>
              <a:t>Demonstration and feedback</a:t>
            </a:r>
          </a:p>
        </p:txBody>
      </p:sp>
      <p:sp>
        <p:nvSpPr>
          <p:cNvPr id="28" name="Rounded Rectangle 27"/>
          <p:cNvSpPr/>
          <p:nvPr/>
        </p:nvSpPr>
        <p:spPr>
          <a:xfrm>
            <a:off x="914400" y="5715000"/>
            <a:ext cx="10332720" cy="438912"/>
          </a:xfrm>
          <a:prstGeom prst="roundRect">
            <a:avLst/>
          </a:prstGeom>
          <a:solidFill>
            <a:srgbClr val="E7F3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824728"/>
            <a:ext cx="9966960" cy="182880"/>
          </a:xfrm>
          <a:prstGeom prst="rect">
            <a:avLst/>
          </a:prstGeom>
          <a:noFill/>
        </p:spPr>
        <p:txBody>
          <a:bodyPr wrap="square" lIns="18288" rIns="18288" tIns="18288" bIns="18288">
            <a:spAutoFit/>
          </a:bodyPr>
          <a:lstStyle/>
          <a:p>
            <a:pPr algn="ctr">
              <a:defRPr sz="1100" b="1">
                <a:solidFill>
                  <a:srgbClr val="0D305E"/>
                </a:solidFill>
                <a:latin typeface="Aptos"/>
              </a:defRPr>
            </a:pPr>
            <a:r>
              <a:t>Examples: valid/invalid login • quantity above stock • empty-cart checkout • customer access to admin URL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RESULTS</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Application Walkthrough &amp; Results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15</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40080" y="16459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64792"/>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01</a:t>
            </a:r>
          </a:p>
        </p:txBody>
      </p:sp>
      <p:sp>
        <p:nvSpPr>
          <p:cNvPr id="10" name="TextBox 9"/>
          <p:cNvSpPr txBox="1"/>
          <p:nvPr/>
        </p:nvSpPr>
        <p:spPr>
          <a:xfrm>
            <a:off x="777240" y="21031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Login &amp; registration</a:t>
            </a:r>
          </a:p>
        </p:txBody>
      </p:sp>
      <p:sp>
        <p:nvSpPr>
          <p:cNvPr id="11" name="TextBox 10"/>
          <p:cNvSpPr txBox="1"/>
          <p:nvPr/>
        </p:nvSpPr>
        <p:spPr>
          <a:xfrm>
            <a:off x="777240" y="24963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Role-based entry</a:t>
            </a:r>
          </a:p>
        </p:txBody>
      </p:sp>
      <p:sp>
        <p:nvSpPr>
          <p:cNvPr id="12" name="Rounded Rectangle 11"/>
          <p:cNvSpPr/>
          <p:nvPr/>
        </p:nvSpPr>
        <p:spPr>
          <a:xfrm>
            <a:off x="3520439" y="16459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599" y="1764792"/>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02</a:t>
            </a:r>
          </a:p>
        </p:txBody>
      </p:sp>
      <p:sp>
        <p:nvSpPr>
          <p:cNvPr id="14" name="TextBox 13"/>
          <p:cNvSpPr txBox="1"/>
          <p:nvPr/>
        </p:nvSpPr>
        <p:spPr>
          <a:xfrm>
            <a:off x="3657599" y="21031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Product catalogue</a:t>
            </a:r>
          </a:p>
        </p:txBody>
      </p:sp>
      <p:sp>
        <p:nvSpPr>
          <p:cNvPr id="15" name="TextBox 14"/>
          <p:cNvSpPr txBox="1"/>
          <p:nvPr/>
        </p:nvSpPr>
        <p:spPr>
          <a:xfrm>
            <a:off x="3657599" y="24963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Search, filter, sort</a:t>
            </a:r>
          </a:p>
        </p:txBody>
      </p:sp>
      <p:sp>
        <p:nvSpPr>
          <p:cNvPr id="16" name="Rounded Rectangle 15"/>
          <p:cNvSpPr/>
          <p:nvPr/>
        </p:nvSpPr>
        <p:spPr>
          <a:xfrm>
            <a:off x="6400800" y="16459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1764792"/>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03</a:t>
            </a:r>
          </a:p>
        </p:txBody>
      </p:sp>
      <p:sp>
        <p:nvSpPr>
          <p:cNvPr id="18" name="TextBox 17"/>
          <p:cNvSpPr txBox="1"/>
          <p:nvPr/>
        </p:nvSpPr>
        <p:spPr>
          <a:xfrm>
            <a:off x="6537960" y="21031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Shopping cart</a:t>
            </a:r>
          </a:p>
        </p:txBody>
      </p:sp>
      <p:sp>
        <p:nvSpPr>
          <p:cNvPr id="19" name="TextBox 18"/>
          <p:cNvSpPr txBox="1"/>
          <p:nvPr/>
        </p:nvSpPr>
        <p:spPr>
          <a:xfrm>
            <a:off x="6537960" y="24963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Quantity and order summary</a:t>
            </a:r>
          </a:p>
        </p:txBody>
      </p:sp>
      <p:sp>
        <p:nvSpPr>
          <p:cNvPr id="20" name="Rounded Rectangle 19"/>
          <p:cNvSpPr/>
          <p:nvPr/>
        </p:nvSpPr>
        <p:spPr>
          <a:xfrm>
            <a:off x="9281159" y="16459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19" y="1764792"/>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04</a:t>
            </a:r>
          </a:p>
        </p:txBody>
      </p:sp>
      <p:sp>
        <p:nvSpPr>
          <p:cNvPr id="22" name="TextBox 21"/>
          <p:cNvSpPr txBox="1"/>
          <p:nvPr/>
        </p:nvSpPr>
        <p:spPr>
          <a:xfrm>
            <a:off x="9418319" y="21031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Checkout</a:t>
            </a:r>
          </a:p>
        </p:txBody>
      </p:sp>
      <p:sp>
        <p:nvSpPr>
          <p:cNvPr id="23" name="TextBox 22"/>
          <p:cNvSpPr txBox="1"/>
          <p:nvPr/>
        </p:nvSpPr>
        <p:spPr>
          <a:xfrm>
            <a:off x="9418319" y="24963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Address and payment method</a:t>
            </a:r>
          </a:p>
        </p:txBody>
      </p:sp>
      <p:sp>
        <p:nvSpPr>
          <p:cNvPr id="24" name="Rounded Rectangle 23"/>
          <p:cNvSpPr/>
          <p:nvPr/>
        </p:nvSpPr>
        <p:spPr>
          <a:xfrm>
            <a:off x="640080" y="34747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593591"/>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05</a:t>
            </a:r>
          </a:p>
        </p:txBody>
      </p:sp>
      <p:sp>
        <p:nvSpPr>
          <p:cNvPr id="26" name="TextBox 25"/>
          <p:cNvSpPr txBox="1"/>
          <p:nvPr/>
        </p:nvSpPr>
        <p:spPr>
          <a:xfrm>
            <a:off x="777240" y="39319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Order tracking</a:t>
            </a:r>
          </a:p>
        </p:txBody>
      </p:sp>
      <p:sp>
        <p:nvSpPr>
          <p:cNvPr id="27" name="TextBox 26"/>
          <p:cNvSpPr txBox="1"/>
          <p:nvPr/>
        </p:nvSpPr>
        <p:spPr>
          <a:xfrm>
            <a:off x="777240" y="43251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History and status progress</a:t>
            </a:r>
          </a:p>
        </p:txBody>
      </p:sp>
      <p:sp>
        <p:nvSpPr>
          <p:cNvPr id="28" name="Rounded Rectangle 27"/>
          <p:cNvSpPr/>
          <p:nvPr/>
        </p:nvSpPr>
        <p:spPr>
          <a:xfrm>
            <a:off x="3520439" y="34747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599" y="3593591"/>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06</a:t>
            </a:r>
          </a:p>
        </p:txBody>
      </p:sp>
      <p:sp>
        <p:nvSpPr>
          <p:cNvPr id="30" name="TextBox 29"/>
          <p:cNvSpPr txBox="1"/>
          <p:nvPr/>
        </p:nvSpPr>
        <p:spPr>
          <a:xfrm>
            <a:off x="3657599" y="39319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Admin dashboard</a:t>
            </a:r>
          </a:p>
        </p:txBody>
      </p:sp>
      <p:sp>
        <p:nvSpPr>
          <p:cNvPr id="31" name="TextBox 30"/>
          <p:cNvSpPr txBox="1"/>
          <p:nvPr/>
        </p:nvSpPr>
        <p:spPr>
          <a:xfrm>
            <a:off x="3657599" y="43251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Products, customers, orders, revenue</a:t>
            </a:r>
          </a:p>
        </p:txBody>
      </p:sp>
      <p:sp>
        <p:nvSpPr>
          <p:cNvPr id="32" name="Rounded Rectangle 31"/>
          <p:cNvSpPr/>
          <p:nvPr/>
        </p:nvSpPr>
        <p:spPr>
          <a:xfrm>
            <a:off x="6400800" y="3474720"/>
            <a:ext cx="2560320" cy="1325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3593591"/>
            <a:ext cx="502920" cy="274320"/>
          </a:xfrm>
          <a:prstGeom prst="rect">
            <a:avLst/>
          </a:prstGeom>
          <a:noFill/>
        </p:spPr>
        <p:txBody>
          <a:bodyPr wrap="square" lIns="18288" rIns="18288" tIns="18288" bIns="18288">
            <a:spAutoFit/>
          </a:bodyPr>
          <a:lstStyle/>
          <a:p>
            <a:pPr>
              <a:defRPr sz="1300" b="1">
                <a:solidFill>
                  <a:srgbClr val="235CB4"/>
                </a:solidFill>
                <a:latin typeface="Aptos"/>
              </a:defRPr>
            </a:pPr>
            <a:r>
              <a:t>07</a:t>
            </a:r>
          </a:p>
        </p:txBody>
      </p:sp>
      <p:sp>
        <p:nvSpPr>
          <p:cNvPr id="34" name="TextBox 33"/>
          <p:cNvSpPr txBox="1"/>
          <p:nvPr/>
        </p:nvSpPr>
        <p:spPr>
          <a:xfrm>
            <a:off x="6537960" y="3931920"/>
            <a:ext cx="2286000" cy="320040"/>
          </a:xfrm>
          <a:prstGeom prst="rect">
            <a:avLst/>
          </a:prstGeom>
          <a:noFill/>
        </p:spPr>
        <p:txBody>
          <a:bodyPr wrap="square" lIns="18288" rIns="18288" tIns="18288" bIns="18288">
            <a:spAutoFit/>
          </a:bodyPr>
          <a:lstStyle/>
          <a:p>
            <a:pPr>
              <a:defRPr sz="1400" b="1">
                <a:solidFill>
                  <a:srgbClr val="081B38"/>
                </a:solidFill>
                <a:latin typeface="Aptos Display"/>
              </a:defRPr>
            </a:pPr>
            <a:r>
              <a:t>Reports</a:t>
            </a:r>
          </a:p>
        </p:txBody>
      </p:sp>
      <p:sp>
        <p:nvSpPr>
          <p:cNvPr id="35" name="TextBox 34"/>
          <p:cNvSpPr txBox="1"/>
          <p:nvPr/>
        </p:nvSpPr>
        <p:spPr>
          <a:xfrm>
            <a:off x="6537960" y="4325112"/>
            <a:ext cx="2286000" cy="274320"/>
          </a:xfrm>
          <a:prstGeom prst="rect">
            <a:avLst/>
          </a:prstGeom>
          <a:noFill/>
        </p:spPr>
        <p:txBody>
          <a:bodyPr wrap="square" lIns="18288" rIns="18288" tIns="18288" bIns="18288">
            <a:spAutoFit/>
          </a:bodyPr>
          <a:lstStyle/>
          <a:p>
            <a:pPr>
              <a:defRPr sz="1100" b="0">
                <a:solidFill>
                  <a:srgbClr val="526985"/>
                </a:solidFill>
                <a:latin typeface="Aptos"/>
              </a:defRPr>
            </a:pPr>
            <a:r>
              <a:t>Sales, stock and order summaries</a:t>
            </a:r>
          </a:p>
        </p:txBody>
      </p:sp>
      <p:sp>
        <p:nvSpPr>
          <p:cNvPr id="36" name="TextBox 35"/>
          <p:cNvSpPr txBox="1"/>
          <p:nvPr/>
        </p:nvSpPr>
        <p:spPr>
          <a:xfrm>
            <a:off x="822960" y="5715000"/>
            <a:ext cx="10515600" cy="411480"/>
          </a:xfrm>
          <a:prstGeom prst="rect">
            <a:avLst/>
          </a:prstGeom>
          <a:noFill/>
        </p:spPr>
        <p:txBody>
          <a:bodyPr wrap="square" lIns="18288" rIns="18288" tIns="18288" bIns="18288">
            <a:spAutoFit/>
          </a:bodyPr>
          <a:lstStyle/>
          <a:p>
            <a:pPr algn="ctr">
              <a:defRPr sz="1300" b="1">
                <a:solidFill>
                  <a:srgbClr val="0D305E"/>
                </a:solidFill>
                <a:latin typeface="Aptos"/>
              </a:defRPr>
            </a:pPr>
            <a:r>
              <a:t>Reported outcomes: searchable catalogue, automated pricing, stock checks, order tracking, role protection and reports.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REFLECTION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Learning Outcomes &amp; Challenges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16</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Rounded Rectangle 7"/>
          <p:cNvSpPr/>
          <p:nvPr/>
        </p:nvSpPr>
        <p:spPr>
          <a:xfrm>
            <a:off x="685800" y="1600200"/>
            <a:ext cx="5257800" cy="3611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73152" cy="3611880"/>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74650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Technical learning</a:t>
            </a:r>
          </a:p>
        </p:txBody>
      </p:sp>
      <p:sp>
        <p:nvSpPr>
          <p:cNvPr id="11" name="TextBox 10"/>
          <p:cNvSpPr txBox="1"/>
          <p:nvPr/>
        </p:nvSpPr>
        <p:spPr>
          <a:xfrm>
            <a:off x="886968" y="2167128"/>
            <a:ext cx="4873752" cy="2926080"/>
          </a:xfrm>
          <a:prstGeom prst="rect">
            <a:avLst/>
          </a:prstGeom>
          <a:noFill/>
        </p:spPr>
        <p:txBody>
          <a:bodyPr wrap="square" lIns="45720" rIns="45720" tIns="36576" bIns="18288">
            <a:spAutoFit/>
          </a:bodyPr>
          <a:lstStyle/>
          <a:p>
            <a:pPr>
              <a:spcAft>
                <a:spcPts val="500"/>
              </a:spcAft>
              <a:defRPr sz="1300">
                <a:solidFill>
                  <a:srgbClr val="162D4C"/>
                </a:solidFill>
                <a:latin typeface="Aptos"/>
              </a:defRPr>
            </a:pPr>
            <a:r>
              <a:t>•  Object-oriented Java and advanced concepts</a:t>
            </a:r>
          </a:p>
          <a:p>
            <a:pPr>
              <a:spcAft>
                <a:spcPts val="500"/>
              </a:spcAft>
              <a:defRPr sz="1300">
                <a:solidFill>
                  <a:srgbClr val="162D4C"/>
                </a:solidFill>
                <a:latin typeface="Aptos"/>
              </a:defRPr>
            </a:pPr>
            <a:r>
              <a:t>•  Database connectivity with JDBC and Hibernate</a:t>
            </a:r>
          </a:p>
          <a:p>
            <a:pPr>
              <a:spcAft>
                <a:spcPts val="500"/>
              </a:spcAft>
              <a:defRPr sz="1300">
                <a:solidFill>
                  <a:srgbClr val="162D4C"/>
                </a:solidFill>
                <a:latin typeface="Aptos"/>
              </a:defRPr>
            </a:pPr>
            <a:r>
              <a:t>•  Web development using Servlets, JSP and Spring Boot</a:t>
            </a:r>
          </a:p>
          <a:p>
            <a:pPr>
              <a:spcAft>
                <a:spcPts val="500"/>
              </a:spcAft>
              <a:defRPr sz="1300">
                <a:solidFill>
                  <a:srgbClr val="162D4C"/>
                </a:solidFill>
                <a:latin typeface="Aptos"/>
              </a:defRPr>
            </a:pPr>
            <a:r>
              <a:t>•  Spring Security, JUnit testing and debugging</a:t>
            </a:r>
          </a:p>
          <a:p>
            <a:pPr>
              <a:spcAft>
                <a:spcPts val="500"/>
              </a:spcAft>
              <a:defRPr sz="1300">
                <a:solidFill>
                  <a:srgbClr val="162D4C"/>
                </a:solidFill>
                <a:latin typeface="Aptos"/>
              </a:defRPr>
            </a:pPr>
            <a:r>
              <a:t>•  Git version control and Tomcat deployment</a:t>
            </a:r>
          </a:p>
        </p:txBody>
      </p:sp>
      <p:sp>
        <p:nvSpPr>
          <p:cNvPr id="12" name="Rounded Rectangle 11"/>
          <p:cNvSpPr/>
          <p:nvPr/>
        </p:nvSpPr>
        <p:spPr>
          <a:xfrm>
            <a:off x="6172200" y="1600200"/>
            <a:ext cx="5257800" cy="3611880"/>
          </a:xfrm>
          <a:prstGeom prst="roundRect">
            <a:avLst/>
          </a:prstGeom>
          <a:solidFill>
            <a:srgbClr val="FFFFFF"/>
          </a:solidFill>
          <a:ln>
            <a:solidFill>
              <a:srgbClr val="C4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600200"/>
            <a:ext cx="73152" cy="3611880"/>
          </a:xfrm>
          <a:prstGeom prst="rect">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746504"/>
            <a:ext cx="4873752" cy="329184"/>
          </a:xfrm>
          <a:prstGeom prst="rect">
            <a:avLst/>
          </a:prstGeom>
          <a:noFill/>
        </p:spPr>
        <p:txBody>
          <a:bodyPr wrap="square" lIns="18288" rIns="18288" tIns="18288" bIns="18288">
            <a:spAutoFit/>
          </a:bodyPr>
          <a:lstStyle/>
          <a:p>
            <a:pPr>
              <a:defRPr sz="1600" b="1">
                <a:solidFill>
                  <a:srgbClr val="081B38"/>
                </a:solidFill>
                <a:latin typeface="Aptos Display"/>
              </a:defRPr>
            </a:pPr>
            <a:r>
              <a:t>Challenges &amp; solutions</a:t>
            </a:r>
          </a:p>
        </p:txBody>
      </p:sp>
      <p:sp>
        <p:nvSpPr>
          <p:cNvPr id="15" name="TextBox 14"/>
          <p:cNvSpPr txBox="1"/>
          <p:nvPr/>
        </p:nvSpPr>
        <p:spPr>
          <a:xfrm>
            <a:off x="6373368" y="2167128"/>
            <a:ext cx="4873752" cy="2926080"/>
          </a:xfrm>
          <a:prstGeom prst="rect">
            <a:avLst/>
          </a:prstGeom>
          <a:noFill/>
        </p:spPr>
        <p:txBody>
          <a:bodyPr wrap="square" lIns="45720" rIns="45720" tIns="36576" bIns="18288">
            <a:spAutoFit/>
          </a:bodyPr>
          <a:lstStyle/>
          <a:p>
            <a:pPr>
              <a:spcAft>
                <a:spcPts val="500"/>
              </a:spcAft>
              <a:defRPr sz="1300">
                <a:solidFill>
                  <a:srgbClr val="162D4C"/>
                </a:solidFill>
                <a:latin typeface="Aptos"/>
              </a:defRPr>
            </a:pPr>
            <a:r>
              <a:t>•  Many technologies in a short time → structured practice</a:t>
            </a:r>
          </a:p>
          <a:p>
            <a:pPr>
              <a:spcAft>
                <a:spcPts val="500"/>
              </a:spcAft>
              <a:defRPr sz="1300">
                <a:solidFill>
                  <a:srgbClr val="162D4C"/>
                </a:solidFill>
                <a:latin typeface="Aptos"/>
              </a:defRPr>
            </a:pPr>
            <a:r>
              <a:t>•  Object-relational mapping → studied JPA/Hibernate mappings</a:t>
            </a:r>
          </a:p>
          <a:p>
            <a:pPr>
              <a:spcAft>
                <a:spcPts val="500"/>
              </a:spcAft>
              <a:defRPr sz="1300">
                <a:solidFill>
                  <a:srgbClr val="162D4C"/>
                </a:solidFill>
                <a:latin typeface="Aptos"/>
              </a:defRPr>
            </a:pPr>
            <a:r>
              <a:t>•  Stock consistency → transactional order processing</a:t>
            </a:r>
          </a:p>
          <a:p>
            <a:pPr>
              <a:spcAft>
                <a:spcPts val="500"/>
              </a:spcAft>
              <a:defRPr sz="1300">
                <a:solidFill>
                  <a:srgbClr val="162D4C"/>
                </a:solidFill>
                <a:latin typeface="Aptos"/>
              </a:defRPr>
            </a:pPr>
            <a:r>
              <a:t>•  Money calculations → BigDecimal and unit tests</a:t>
            </a:r>
          </a:p>
          <a:p>
            <a:pPr>
              <a:spcAft>
                <a:spcPts val="500"/>
              </a:spcAft>
              <a:defRPr sz="1300">
                <a:solidFill>
                  <a:srgbClr val="162D4C"/>
                </a:solidFill>
                <a:latin typeface="Aptos"/>
              </a:defRPr>
            </a:pPr>
            <a:r>
              <a:t>•  Integration and code changes → module-wise tests and Git commits</a:t>
            </a:r>
          </a:p>
        </p:txBody>
      </p:sp>
      <p:sp>
        <p:nvSpPr>
          <p:cNvPr id="16" name="TextBox 15"/>
          <p:cNvSpPr txBox="1"/>
          <p:nvPr/>
        </p:nvSpPr>
        <p:spPr>
          <a:xfrm>
            <a:off x="914400" y="5577840"/>
            <a:ext cx="10058400" cy="365760"/>
          </a:xfrm>
          <a:prstGeom prst="rect">
            <a:avLst/>
          </a:prstGeom>
          <a:noFill/>
        </p:spPr>
        <p:txBody>
          <a:bodyPr wrap="square" lIns="18288" rIns="18288" tIns="18288" bIns="18288">
            <a:spAutoFit/>
          </a:bodyPr>
          <a:lstStyle/>
          <a:p>
            <a:pPr algn="ctr">
              <a:defRPr sz="1300" b="1">
                <a:solidFill>
                  <a:srgbClr val="4E6C91"/>
                </a:solidFill>
                <a:latin typeface="Aptos"/>
              </a:defRPr>
            </a:pPr>
            <a:r>
              <a:t>Professional growth: communication • teamwork • time management • documentation • problem solving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A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3291840" cy="256032"/>
          </a:xfrm>
          <a:prstGeom prst="rect">
            <a:avLst/>
          </a:prstGeom>
          <a:noFill/>
        </p:spPr>
        <p:txBody>
          <a:bodyPr wrap="square" lIns="18288" rIns="18288" tIns="18288" bIns="18288">
            <a:spAutoFit/>
          </a:bodyPr>
          <a:lstStyle/>
          <a:p>
            <a:pPr>
              <a:defRPr sz="900" b="1">
                <a:solidFill>
                  <a:srgbClr val="235CB4"/>
                </a:solidFill>
                <a:latin typeface="Aptos"/>
              </a:defRPr>
            </a:pPr>
            <a:r>
              <a:t>CONCLUSION</a:t>
            </a:r>
          </a:p>
        </p:txBody>
      </p:sp>
      <p:sp>
        <p:nvSpPr>
          <p:cNvPr id="4" name="TextBox 3"/>
          <p:cNvSpPr txBox="1"/>
          <p:nvPr/>
        </p:nvSpPr>
        <p:spPr>
          <a:xfrm>
            <a:off x="594360" y="621792"/>
            <a:ext cx="10972800" cy="502920"/>
          </a:xfrm>
          <a:prstGeom prst="rect">
            <a:avLst/>
          </a:prstGeom>
          <a:noFill/>
        </p:spPr>
        <p:txBody>
          <a:bodyPr wrap="square" lIns="18288" rIns="18288" tIns="18288" bIns="18288">
            <a:spAutoFit/>
          </a:bodyPr>
          <a:lstStyle/>
          <a:p>
            <a:pPr>
              <a:defRPr sz="2700" b="1">
                <a:solidFill>
                  <a:srgbClr val="081B38"/>
                </a:solidFill>
                <a:latin typeface="Aptos Display"/>
              </a:defRPr>
            </a:pPr>
            <a:r>
              <a:t>Future Enhancements</a:t>
            </a:r>
          </a:p>
        </p:txBody>
      </p:sp>
      <p:sp>
        <p:nvSpPr>
          <p:cNvPr id="5" name="Rectangle 4"/>
          <p:cNvSpPr/>
          <p:nvPr/>
        </p:nvSpPr>
        <p:spPr>
          <a:xfrm>
            <a:off x="594360" y="1234440"/>
            <a:ext cx="822960" cy="41148"/>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09960" y="6510528"/>
            <a:ext cx="502920" cy="182880"/>
          </a:xfrm>
          <a:prstGeom prst="rect">
            <a:avLst/>
          </a:prstGeom>
          <a:noFill/>
        </p:spPr>
        <p:txBody>
          <a:bodyPr wrap="square" lIns="18288" rIns="18288" tIns="18288" bIns="18288">
            <a:spAutoFit/>
          </a:bodyPr>
          <a:lstStyle/>
          <a:p>
            <a:pPr algn="r">
              <a:defRPr sz="900" b="1">
                <a:solidFill>
                  <a:srgbClr val="4E6C91"/>
                </a:solidFill>
                <a:latin typeface="Aptos"/>
              </a:defRPr>
            </a:pPr>
            <a:r>
              <a:t>17</a:t>
            </a:r>
          </a:p>
        </p:txBody>
      </p:sp>
      <p:sp>
        <p:nvSpPr>
          <p:cNvPr id="7" name="TextBox 6"/>
          <p:cNvSpPr txBox="1"/>
          <p:nvPr/>
        </p:nvSpPr>
        <p:spPr>
          <a:xfrm>
            <a:off x="594360" y="6492240"/>
            <a:ext cx="7132320" cy="182880"/>
          </a:xfrm>
          <a:prstGeom prst="rect">
            <a:avLst/>
          </a:prstGeom>
          <a:noFill/>
        </p:spPr>
        <p:txBody>
          <a:bodyPr wrap="square" lIns="18288" rIns="18288" tIns="18288" bIns="18288">
            <a:spAutoFit/>
          </a:bodyPr>
          <a:lstStyle/>
          <a:p>
            <a:pPr>
              <a:defRPr sz="800" b="0">
                <a:solidFill>
                  <a:srgbClr val="4E6C91"/>
                </a:solidFill>
                <a:latin typeface="Aptos"/>
              </a:defRPr>
            </a:pPr>
            <a:r>
              <a:t>E-COMMERCE SHOPPING SYSTEM  •  INTERNSHIP REVIEW</a:t>
            </a:r>
          </a:p>
        </p:txBody>
      </p:sp>
      <p:sp>
        <p:nvSpPr>
          <p:cNvPr id="8" name="Oval 7"/>
          <p:cNvSpPr/>
          <p:nvPr/>
        </p:nvSpPr>
        <p:spPr>
          <a:xfrm>
            <a:off x="731520" y="1581912"/>
            <a:ext cx="320040" cy="32004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1508760"/>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Payment gateway</a:t>
            </a:r>
          </a:p>
        </p:txBody>
      </p:sp>
      <p:sp>
        <p:nvSpPr>
          <p:cNvPr id="10" name="TextBox 9"/>
          <p:cNvSpPr txBox="1"/>
          <p:nvPr/>
        </p:nvSpPr>
        <p:spPr>
          <a:xfrm>
            <a:off x="3200400" y="1508760"/>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Enable live online payments.</a:t>
            </a:r>
          </a:p>
        </p:txBody>
      </p:sp>
      <p:sp>
        <p:nvSpPr>
          <p:cNvPr id="11" name="Oval 10"/>
          <p:cNvSpPr/>
          <p:nvPr/>
        </p:nvSpPr>
        <p:spPr>
          <a:xfrm>
            <a:off x="6355080" y="1581912"/>
            <a:ext cx="320040" cy="320040"/>
          </a:xfrm>
          <a:prstGeom prst="ellipse">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508760"/>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Notifications</a:t>
            </a:r>
          </a:p>
        </p:txBody>
      </p:sp>
      <p:sp>
        <p:nvSpPr>
          <p:cNvPr id="13" name="TextBox 12"/>
          <p:cNvSpPr txBox="1"/>
          <p:nvPr/>
        </p:nvSpPr>
        <p:spPr>
          <a:xfrm>
            <a:off x="8823960" y="1508760"/>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Email or SMS updates for orders and delivery.</a:t>
            </a:r>
          </a:p>
        </p:txBody>
      </p:sp>
      <p:sp>
        <p:nvSpPr>
          <p:cNvPr id="14" name="Oval 13"/>
          <p:cNvSpPr/>
          <p:nvPr/>
        </p:nvSpPr>
        <p:spPr>
          <a:xfrm>
            <a:off x="731520" y="2615184"/>
            <a:ext cx="320040" cy="32004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542032"/>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Wishlist &amp; reviews</a:t>
            </a:r>
          </a:p>
        </p:txBody>
      </p:sp>
      <p:sp>
        <p:nvSpPr>
          <p:cNvPr id="16" name="TextBox 15"/>
          <p:cNvSpPr txBox="1"/>
          <p:nvPr/>
        </p:nvSpPr>
        <p:spPr>
          <a:xfrm>
            <a:off x="3200400" y="2542032"/>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Save products and add ratings/reviews.</a:t>
            </a:r>
          </a:p>
        </p:txBody>
      </p:sp>
      <p:sp>
        <p:nvSpPr>
          <p:cNvPr id="17" name="Oval 16"/>
          <p:cNvSpPr/>
          <p:nvPr/>
        </p:nvSpPr>
        <p:spPr>
          <a:xfrm>
            <a:off x="6355080" y="2615184"/>
            <a:ext cx="320040" cy="320040"/>
          </a:xfrm>
          <a:prstGeom prst="ellipse">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542032"/>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Recommendations</a:t>
            </a:r>
          </a:p>
        </p:txBody>
      </p:sp>
      <p:sp>
        <p:nvSpPr>
          <p:cNvPr id="19" name="TextBox 18"/>
          <p:cNvSpPr txBox="1"/>
          <p:nvPr/>
        </p:nvSpPr>
        <p:spPr>
          <a:xfrm>
            <a:off x="8823960" y="2542032"/>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Suggest products based on browsing and purchase history.</a:t>
            </a:r>
          </a:p>
        </p:txBody>
      </p:sp>
      <p:sp>
        <p:nvSpPr>
          <p:cNvPr id="20" name="Oval 19"/>
          <p:cNvSpPr/>
          <p:nvPr/>
        </p:nvSpPr>
        <p:spPr>
          <a:xfrm>
            <a:off x="731520" y="3648456"/>
            <a:ext cx="320040" cy="32004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3575303"/>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Offers management</a:t>
            </a:r>
          </a:p>
        </p:txBody>
      </p:sp>
      <p:sp>
        <p:nvSpPr>
          <p:cNvPr id="22" name="TextBox 21"/>
          <p:cNvSpPr txBox="1"/>
          <p:nvPr/>
        </p:nvSpPr>
        <p:spPr>
          <a:xfrm>
            <a:off x="3200400" y="3575303"/>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Create and schedule coupons and sales.</a:t>
            </a:r>
          </a:p>
        </p:txBody>
      </p:sp>
      <p:sp>
        <p:nvSpPr>
          <p:cNvPr id="23" name="Oval 22"/>
          <p:cNvSpPr/>
          <p:nvPr/>
        </p:nvSpPr>
        <p:spPr>
          <a:xfrm>
            <a:off x="6355080" y="3648456"/>
            <a:ext cx="320040" cy="320040"/>
          </a:xfrm>
          <a:prstGeom prst="ellipse">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575303"/>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Multi-vendor support</a:t>
            </a:r>
          </a:p>
        </p:txBody>
      </p:sp>
      <p:sp>
        <p:nvSpPr>
          <p:cNvPr id="25" name="TextBox 24"/>
          <p:cNvSpPr txBox="1"/>
          <p:nvPr/>
        </p:nvSpPr>
        <p:spPr>
          <a:xfrm>
            <a:off x="8823960" y="3575303"/>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Allow multiple sellers on one platform.</a:t>
            </a:r>
          </a:p>
        </p:txBody>
      </p:sp>
      <p:sp>
        <p:nvSpPr>
          <p:cNvPr id="26" name="Oval 25"/>
          <p:cNvSpPr/>
          <p:nvPr/>
        </p:nvSpPr>
        <p:spPr>
          <a:xfrm>
            <a:off x="731520" y="4681727"/>
            <a:ext cx="320040" cy="32004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4440" y="4608575"/>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Courier integration</a:t>
            </a:r>
          </a:p>
        </p:txBody>
      </p:sp>
      <p:sp>
        <p:nvSpPr>
          <p:cNvPr id="28" name="TextBox 27"/>
          <p:cNvSpPr txBox="1"/>
          <p:nvPr/>
        </p:nvSpPr>
        <p:spPr>
          <a:xfrm>
            <a:off x="3200400" y="4608575"/>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Provide live shipment status.</a:t>
            </a:r>
          </a:p>
        </p:txBody>
      </p:sp>
      <p:sp>
        <p:nvSpPr>
          <p:cNvPr id="29" name="Oval 28"/>
          <p:cNvSpPr/>
          <p:nvPr/>
        </p:nvSpPr>
        <p:spPr>
          <a:xfrm>
            <a:off x="6355080" y="4681727"/>
            <a:ext cx="320040" cy="320040"/>
          </a:xfrm>
          <a:prstGeom prst="ellipse">
            <a:avLst/>
          </a:prstGeom>
          <a:solidFill>
            <a:srgbClr val="377ED6"/>
          </a:solidFill>
          <a:ln>
            <a:solidFill>
              <a:srgbClr val="377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4608575"/>
            <a:ext cx="2057400" cy="274320"/>
          </a:xfrm>
          <a:prstGeom prst="rect">
            <a:avLst/>
          </a:prstGeom>
          <a:noFill/>
        </p:spPr>
        <p:txBody>
          <a:bodyPr wrap="square" lIns="18288" rIns="18288" tIns="18288" bIns="18288">
            <a:spAutoFit/>
          </a:bodyPr>
          <a:lstStyle/>
          <a:p>
            <a:pPr>
              <a:defRPr sz="1400" b="1">
                <a:solidFill>
                  <a:srgbClr val="081B38"/>
                </a:solidFill>
                <a:latin typeface="Aptos Display"/>
              </a:defRPr>
            </a:pPr>
            <a:r>
              <a:t>Mobile application</a:t>
            </a:r>
          </a:p>
        </p:txBody>
      </p:sp>
      <p:sp>
        <p:nvSpPr>
          <p:cNvPr id="31" name="TextBox 30"/>
          <p:cNvSpPr txBox="1"/>
          <p:nvPr/>
        </p:nvSpPr>
        <p:spPr>
          <a:xfrm>
            <a:off x="8823960" y="4608575"/>
            <a:ext cx="2651760" cy="502920"/>
          </a:xfrm>
          <a:prstGeom prst="rect">
            <a:avLst/>
          </a:prstGeom>
          <a:noFill/>
        </p:spPr>
        <p:txBody>
          <a:bodyPr wrap="square" lIns="18288" rIns="18288" tIns="18288" bIns="18288">
            <a:spAutoFit/>
          </a:bodyPr>
          <a:lstStyle/>
          <a:p>
            <a:pPr>
              <a:defRPr sz="1100" b="0">
                <a:solidFill>
                  <a:srgbClr val="526985"/>
                </a:solidFill>
                <a:latin typeface="Aptos"/>
              </a:defRPr>
            </a:pPr>
            <a:r>
              <a:t>Companion Android app for customers and administrators.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B38"/>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75B8F5"/>
          </a:solidFill>
          <a:ln>
            <a:solidFill>
              <a:srgbClr val="75B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4069080"/>
            <a:ext cx="3749039" cy="3749039"/>
          </a:xfrm>
          <a:prstGeom prst="ellipse">
            <a:avLst/>
          </a:prstGeom>
          <a:solidFill>
            <a:srgbClr val="0D305E"/>
          </a:solidFill>
          <a:ln>
            <a:solidFill>
              <a:srgbClr val="0D30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4709160"/>
            <a:ext cx="2377440" cy="2377440"/>
          </a:xfrm>
          <a:prstGeom prst="ellipse">
            <a:avLst/>
          </a:prstGeom>
          <a:solidFill>
            <a:srgbClr val="235CB4"/>
          </a:solidFill>
          <a:ln>
            <a:solidFill>
              <a:srgbClr val="235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594360"/>
            <a:ext cx="2743200" cy="274320"/>
          </a:xfrm>
          <a:prstGeom prst="rect">
            <a:avLst/>
          </a:prstGeom>
          <a:noFill/>
        </p:spPr>
        <p:txBody>
          <a:bodyPr wrap="square" lIns="18288" rIns="18288" tIns="18288" bIns="18288">
            <a:spAutoFit/>
          </a:bodyPr>
          <a:lstStyle/>
          <a:p>
            <a:pPr>
              <a:defRPr sz="1100" b="1">
                <a:solidFill>
                  <a:srgbClr val="75B8F5"/>
                </a:solidFill>
                <a:latin typeface="Aptos"/>
              </a:defRPr>
            </a:pPr>
            <a:r>
              <a:t>CONCLUSION</a:t>
            </a:r>
          </a:p>
        </p:txBody>
      </p:sp>
      <p:sp>
        <p:nvSpPr>
          <p:cNvPr id="6" name="TextBox 5"/>
          <p:cNvSpPr txBox="1"/>
          <p:nvPr/>
        </p:nvSpPr>
        <p:spPr>
          <a:xfrm>
            <a:off x="777240" y="1097280"/>
            <a:ext cx="7863840" cy="822960"/>
          </a:xfrm>
          <a:prstGeom prst="rect">
            <a:avLst/>
          </a:prstGeom>
          <a:noFill/>
        </p:spPr>
        <p:txBody>
          <a:bodyPr wrap="square" lIns="18288" rIns="18288" tIns="18288" bIns="18288">
            <a:spAutoFit/>
          </a:bodyPr>
          <a:lstStyle/>
          <a:p>
            <a:pPr>
              <a:defRPr sz="2700" b="1">
                <a:solidFill>
                  <a:srgbClr val="FFFFFF"/>
                </a:solidFill>
                <a:latin typeface="Aptos Display"/>
              </a:defRPr>
            </a:pPr>
            <a:r>
              <a:t>From Java fundamentals to a complete web application</a:t>
            </a:r>
          </a:p>
        </p:txBody>
      </p:sp>
      <p:sp>
        <p:nvSpPr>
          <p:cNvPr id="7" name="TextBox 6"/>
          <p:cNvSpPr txBox="1"/>
          <p:nvPr/>
        </p:nvSpPr>
        <p:spPr>
          <a:xfrm>
            <a:off x="822960" y="2240280"/>
            <a:ext cx="8046720" cy="2011680"/>
          </a:xfrm>
          <a:prstGeom prst="rect">
            <a:avLst/>
          </a:prstGeom>
          <a:noFill/>
        </p:spPr>
        <p:txBody>
          <a:bodyPr wrap="square" lIns="45720" rIns="45720" tIns="36576" bIns="18288">
            <a:spAutoFit/>
          </a:bodyPr>
          <a:lstStyle/>
          <a:p>
            <a:pPr>
              <a:spcAft>
                <a:spcPts val="1200"/>
              </a:spcAft>
              <a:defRPr sz="1600">
                <a:solidFill>
                  <a:srgbClr val="E7F3FF"/>
                </a:solidFill>
                <a:latin typeface="Aptos"/>
              </a:defRPr>
            </a:pPr>
            <a:r>
              <a:t>•  Applied training in Java, web technologies and databases</a:t>
            </a:r>
          </a:p>
          <a:p>
            <a:pPr>
              <a:spcAft>
                <a:spcPts val="1200"/>
              </a:spcAft>
              <a:defRPr sz="1600">
                <a:solidFill>
                  <a:srgbClr val="E7F3FF"/>
                </a:solidFill>
                <a:latin typeface="Aptos"/>
              </a:defRPr>
            </a:pPr>
            <a:r>
              <a:t>•  Designed a layered e-commerce system with customer and admin roles</a:t>
            </a:r>
          </a:p>
          <a:p>
            <a:pPr>
              <a:spcAft>
                <a:spcPts val="1200"/>
              </a:spcAft>
              <a:defRPr sz="1600">
                <a:solidFill>
                  <a:srgbClr val="E7F3FF"/>
                </a:solidFill>
                <a:latin typeface="Aptos"/>
              </a:defRPr>
            </a:pPr>
            <a:r>
              <a:t>•  Focused on accurate pricing, stock consistency, security and testing</a:t>
            </a:r>
          </a:p>
          <a:p>
            <a:pPr>
              <a:spcAft>
                <a:spcPts val="1200"/>
              </a:spcAft>
              <a:defRPr sz="1600">
                <a:solidFill>
                  <a:srgbClr val="E7F3FF"/>
                </a:solidFill>
                <a:latin typeface="Aptos"/>
              </a:defRPr>
            </a:pPr>
            <a:r>
              <a:t>•  Built technical confidence and professional working habits</a:t>
            </a:r>
          </a:p>
        </p:txBody>
      </p:sp>
      <p:sp>
        <p:nvSpPr>
          <p:cNvPr id="8" name="TextBox 7"/>
          <p:cNvSpPr txBox="1"/>
          <p:nvPr/>
        </p:nvSpPr>
        <p:spPr>
          <a:xfrm>
            <a:off x="822960" y="4983480"/>
            <a:ext cx="6858000" cy="502920"/>
          </a:xfrm>
          <a:prstGeom prst="rect">
            <a:avLst/>
          </a:prstGeom>
          <a:noFill/>
        </p:spPr>
        <p:txBody>
          <a:bodyPr wrap="square" lIns="18288" rIns="18288" tIns="18288" bIns="18288">
            <a:spAutoFit/>
          </a:bodyPr>
          <a:lstStyle/>
          <a:p>
            <a:pPr>
              <a:defRPr sz="2700" b="1">
                <a:solidFill>
                  <a:srgbClr val="FFFFFF"/>
                </a:solidFill>
                <a:latin typeface="Aptos Display"/>
              </a:defRPr>
            </a:pPr>
            <a:r>
              <a:t>Thank you</a:t>
            </a:r>
          </a:p>
        </p:txBody>
      </p:sp>
      <p:sp>
        <p:nvSpPr>
          <p:cNvPr id="9" name="TextBox 8"/>
          <p:cNvSpPr txBox="1"/>
          <p:nvPr/>
        </p:nvSpPr>
        <p:spPr>
          <a:xfrm>
            <a:off x="822960" y="5577840"/>
            <a:ext cx="6949440" cy="320040"/>
          </a:xfrm>
          <a:prstGeom prst="rect">
            <a:avLst/>
          </a:prstGeom>
          <a:noFill/>
        </p:spPr>
        <p:txBody>
          <a:bodyPr wrap="square" lIns="18288" rIns="18288" tIns="18288" bIns="18288">
            <a:spAutoFit/>
          </a:bodyPr>
          <a:lstStyle/>
          <a:p>
            <a:pPr>
              <a:defRPr sz="1500" b="1">
                <a:solidFill>
                  <a:srgbClr val="75B8F5"/>
                </a:solidFill>
                <a:latin typeface="Aptos"/>
              </a:defRPr>
            </a:pPr>
            <a:r>
              <a:t>Project Summary &amp; Thank You</a:t>
            </a:r>
          </a:p>
        </p:txBody>
      </p:sp>
      <p:sp>
        <p:nvSpPr>
          <p:cNvPr id="10" name="TextBox 9"/>
          <p:cNvSpPr txBox="1"/>
          <p:nvPr/>
        </p:nvSpPr>
        <p:spPr>
          <a:xfrm>
            <a:off x="822960" y="6217920"/>
            <a:ext cx="7498079" cy="201168"/>
          </a:xfrm>
          <a:prstGeom prst="rect">
            <a:avLst/>
          </a:prstGeom>
          <a:noFill/>
        </p:spPr>
        <p:txBody>
          <a:bodyPr wrap="square" lIns="18288" rIns="18288" tIns="18288" bIns="18288">
            <a:spAutoFit/>
          </a:bodyPr>
          <a:lstStyle/>
          <a:p>
            <a:pPr>
              <a:defRPr sz="900" b="1">
                <a:solidFill>
                  <a:srgbClr val="E7F3FF"/>
                </a:solidFill>
                <a:latin typeface="Aptos"/>
              </a:defRPr>
            </a:pPr>
            <a:r>
              <a:t>JENNIS JEROM A  •  810023205303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0040"/>
            <a:ext cx="10789920" cy="320040"/>
          </a:xfrm>
          <a:prstGeom prst="rect">
            <a:avLst/>
          </a:prstGeom>
          <a:noFill/>
        </p:spPr>
        <p:txBody>
          <a:bodyPr wrap="square" lIns="73152" rIns="73152" tIns="36576">
            <a:spAutoFit/>
          </a:bodyPr>
          <a:lstStyle/>
          <a:p>
            <a:pPr>
              <a:defRPr sz="1200" b="1">
                <a:solidFill>
                  <a:srgbClr val="1969AA"/>
                </a:solidFill>
                <a:latin typeface="Aptos"/>
              </a:defRPr>
            </a:pPr>
            <a:r>
              <a:t>PROJECT OVERVIEW</a:t>
            </a:r>
          </a:p>
        </p:txBody>
      </p:sp>
      <p:sp>
        <p:nvSpPr>
          <p:cNvPr id="3" name="TextBox 2"/>
          <p:cNvSpPr txBox="1"/>
          <p:nvPr/>
        </p:nvSpPr>
        <p:spPr>
          <a:xfrm>
            <a:off x="594360" y="731520"/>
            <a:ext cx="10972800" cy="594360"/>
          </a:xfrm>
          <a:prstGeom prst="rect">
            <a:avLst/>
          </a:prstGeom>
          <a:noFill/>
        </p:spPr>
        <p:txBody>
          <a:bodyPr wrap="square" lIns="73152" rIns="73152" tIns="36576">
            <a:spAutoFit/>
          </a:bodyPr>
          <a:lstStyle/>
          <a:p>
            <a:pPr>
              <a:defRPr sz="2700" b="1">
                <a:solidFill>
                  <a:srgbClr val="192B48"/>
                </a:solidFill>
                <a:latin typeface="Aptos"/>
              </a:defRPr>
            </a:pPr>
            <a:r>
              <a:t>What Is the E-Commerce Shopping System?</a:t>
            </a:r>
          </a:p>
        </p:txBody>
      </p:sp>
      <p:sp>
        <p:nvSpPr>
          <p:cNvPr id="4" name="Rectangle 3"/>
          <p:cNvSpPr/>
          <p:nvPr/>
        </p:nvSpPr>
        <p:spPr>
          <a:xfrm>
            <a:off x="640080" y="1645920"/>
            <a:ext cx="5257800" cy="3246120"/>
          </a:xfrm>
          <a:prstGeom prst="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wrap="square" lIns="256032" rIns="228600" tIns="228600"/>
          <a:lstStyle/>
          <a:p>
            <a:pPr algn="ctr">
              <a:defRPr sz="1500" b="1">
                <a:solidFill>
                  <a:srgbClr val="1969AA"/>
                </a:solidFill>
                <a:latin typeface="Aptos Display"/>
              </a:defRPr>
            </a:pPr>
            <a:r>
              <a:t>WHAT IS IT?</a:t>
            </a:r>
          </a:p>
          <a:p>
            <a:pPr>
              <a:spcBef>
                <a:spcPts val="1400"/>
              </a:spcBef>
              <a:defRPr sz="1600">
                <a:solidFill>
                  <a:srgbClr val="303C4E"/>
                </a:solidFill>
                <a:latin typeface="Aptos"/>
              </a:defRPr>
            </a:pPr>
            <a:r>
              <a:t>A web-based shopping application that brings products, customers, carts, orders and inventory into one organised online system. Customers can browse products and place orders through a website instead of relying only on manual or phone-based ordering.</a:t>
            </a:r>
          </a:p>
        </p:txBody>
      </p:sp>
      <p:sp>
        <p:nvSpPr>
          <p:cNvPr id="5" name="Rectangle 4"/>
          <p:cNvSpPr/>
          <p:nvPr/>
        </p:nvSpPr>
        <p:spPr>
          <a:xfrm>
            <a:off x="6172200" y="1645920"/>
            <a:ext cx="5257800" cy="3246120"/>
          </a:xfrm>
          <a:prstGeom prst="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wrap="square" lIns="256032" rIns="228600" tIns="228600"/>
          <a:lstStyle/>
          <a:p>
            <a:pPr algn="ctr">
              <a:defRPr sz="1500" b="1">
                <a:solidFill>
                  <a:srgbClr val="1969AA"/>
                </a:solidFill>
                <a:latin typeface="Aptos Display"/>
              </a:defRPr>
            </a:pPr>
            <a:r>
              <a:t>WHAT DOES IT DO IN THIS PROJECT?</a:t>
            </a:r>
          </a:p>
          <a:p>
            <a:pPr>
              <a:spcBef>
                <a:spcPts val="1400"/>
              </a:spcBef>
              <a:defRPr sz="1600">
                <a:solidFill>
                  <a:srgbClr val="303C4E"/>
                </a:solidFill>
                <a:latin typeface="Aptos"/>
              </a:defRPr>
            </a:pPr>
            <a:r>
              <a:t>The project demonstrates a complete shopping workflow: customer registration and login, product search, cart management, checkout, order records and order-status tracking. An administrator can maintain products, categories, stock and orders. Java and Spring technologies handle application logic, while Hibernate/JPA and MySQL manage stored data.</a:t>
            </a:r>
          </a:p>
        </p:txBody>
      </p:sp>
      <p:sp>
        <p:nvSpPr>
          <p:cNvPr id="6" name="TextBox 5"/>
          <p:cNvSpPr txBox="1"/>
          <p:nvPr/>
        </p:nvSpPr>
        <p:spPr>
          <a:xfrm>
            <a:off x="685800" y="5257800"/>
            <a:ext cx="10515600" cy="502920"/>
          </a:xfrm>
          <a:prstGeom prst="rect">
            <a:avLst/>
          </a:prstGeom>
          <a:noFill/>
        </p:spPr>
        <p:txBody>
          <a:bodyPr wrap="square" lIns="73152" rIns="73152" tIns="36576">
            <a:spAutoFit/>
          </a:bodyPr>
          <a:lstStyle/>
          <a:p>
            <a:pPr>
              <a:defRPr sz="1500" b="1">
                <a:solidFill>
                  <a:srgbClr val="374B64"/>
                </a:solidFill>
                <a:latin typeface="Aptos"/>
              </a:defRPr>
            </a:pPr>
            <a:r>
              <a:t>Core focus: easier product discovery • reliable order handling • accurate stock • role-based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